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Montserrat Bold" charset="1" panose="00000800000000000000"/>
      <p:regular r:id="rId36"/>
    </p:embeddedFont>
    <p:embeddedFont>
      <p:font typeface="Montserrat" charset="1" panose="00000500000000000000"/>
      <p:regular r:id="rId37"/>
    </p:embeddedFont>
    <p:embeddedFont>
      <p:font typeface="Canva Sans" charset="1" panose="020B0503030501040103"/>
      <p:regular r:id="rId38"/>
    </p:embeddedFont>
    <p:embeddedFont>
      <p:font typeface="Canva Sans Bold" charset="1" panose="020B0803030501040103"/>
      <p:regular r:id="rId39"/>
    </p:embeddedFont>
    <p:embeddedFont>
      <p:font typeface="Montserrat Light" charset="1" panose="00000400000000000000"/>
      <p:regular r:id="rId40"/>
    </p:embeddedFont>
    <p:embeddedFont>
      <p:font typeface="Open Sans" charset="1" panose="020B0606030504020204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4.png" Type="http://schemas.openxmlformats.org/officeDocument/2006/relationships/image"/><Relationship Id="rId8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8.png" Type="http://schemas.openxmlformats.org/officeDocument/2006/relationships/image"/><Relationship Id="rId7" Target="../media/image4.png" Type="http://schemas.openxmlformats.org/officeDocument/2006/relationships/image"/><Relationship Id="rId8" Target="../media/image7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2" Target="../media/image18.jpeg" Type="http://schemas.openxmlformats.org/officeDocument/2006/relationships/image"/><Relationship Id="rId3" Target="../media/image1.pn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4.pn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2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2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7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Relationship Id="rId8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4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5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6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7.jpeg" Type="http://schemas.openxmlformats.org/officeDocument/2006/relationships/image"/><Relationship Id="rId4" Target="../media/image48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1.png" Type="http://schemas.openxmlformats.org/officeDocument/2006/relationships/image"/><Relationship Id="rId4" Target="../media/image52.png" Type="http://schemas.openxmlformats.org/officeDocument/2006/relationships/image"/><Relationship Id="rId5" Target="../media/image53.png" Type="http://schemas.openxmlformats.org/officeDocument/2006/relationships/image"/><Relationship Id="rId6" Target="../media/image54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5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6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7.png" Type="http://schemas.openxmlformats.org/officeDocument/2006/relationships/image"/><Relationship Id="rId4" Target="../media/image58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9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6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9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9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6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6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6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64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6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26148" y="5760974"/>
            <a:ext cx="14373595" cy="2542489"/>
            <a:chOff x="0" y="0"/>
            <a:chExt cx="19164793" cy="33899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164793" cy="3389986"/>
            </a:xfrm>
            <a:custGeom>
              <a:avLst/>
              <a:gdLst/>
              <a:ahLst/>
              <a:cxnLst/>
              <a:rect r="r" b="b" t="t" l="l"/>
              <a:pathLst>
                <a:path h="3389986" w="19164793">
                  <a:moveTo>
                    <a:pt x="0" y="0"/>
                  </a:moveTo>
                  <a:lnTo>
                    <a:pt x="19164793" y="0"/>
                  </a:lnTo>
                  <a:lnTo>
                    <a:pt x="19164793" y="3389986"/>
                  </a:lnTo>
                  <a:lnTo>
                    <a:pt x="0" y="33899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19164793" cy="333283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sz="5400" b="true">
                  <a:solidFill>
                    <a:srgbClr val="80808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CONSTRUYENDO SUEÑOS,</a:t>
              </a:r>
            </a:p>
            <a:p>
              <a:pPr algn="ctr">
                <a:lnSpc>
                  <a:spcPts val="5832"/>
                </a:lnSpc>
              </a:pPr>
              <a:r>
                <a:rPr lang="en-US" sz="5400" b="true">
                  <a:solidFill>
                    <a:srgbClr val="80808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TRASFORMANDO VIDAS</a:t>
              </a:r>
            </a:p>
            <a:p>
              <a:pPr algn="ctr">
                <a:lnSpc>
                  <a:spcPts val="5832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980569" y="-312233"/>
            <a:ext cx="2557462" cy="885825"/>
            <a:chOff x="0" y="0"/>
            <a:chExt cx="3409950" cy="1181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3080" r="0" b="-125629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8706955" y="2654231"/>
            <a:ext cx="7811981" cy="2489269"/>
            <a:chOff x="0" y="0"/>
            <a:chExt cx="11857702" cy="37784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57736" cy="3778377"/>
            </a:xfrm>
            <a:custGeom>
              <a:avLst/>
              <a:gdLst/>
              <a:ahLst/>
              <a:cxnLst/>
              <a:rect r="r" b="b" t="t" l="l"/>
              <a:pathLst>
                <a:path h="3778377" w="11857736">
                  <a:moveTo>
                    <a:pt x="0" y="0"/>
                  </a:moveTo>
                  <a:lnTo>
                    <a:pt x="11857736" y="0"/>
                  </a:lnTo>
                  <a:lnTo>
                    <a:pt x="11857736" y="3778377"/>
                  </a:lnTo>
                  <a:lnTo>
                    <a:pt x="0" y="3778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952" r="0" b="-9954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-538691">
            <a:off x="-4968426" y="-158473"/>
            <a:ext cx="12466358" cy="11406206"/>
          </a:xfrm>
          <a:custGeom>
            <a:avLst/>
            <a:gdLst/>
            <a:ahLst/>
            <a:cxnLst/>
            <a:rect r="r" b="b" t="t" l="l"/>
            <a:pathLst>
              <a:path h="11406206" w="12466358">
                <a:moveTo>
                  <a:pt x="0" y="0"/>
                </a:moveTo>
                <a:lnTo>
                  <a:pt x="12466358" y="0"/>
                </a:lnTo>
                <a:lnTo>
                  <a:pt x="12466358" y="11406206"/>
                </a:lnTo>
                <a:lnTo>
                  <a:pt x="0" y="114062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0894" t="0" r="-82960" b="0"/>
            </a:stretch>
          </a:blipFill>
        </p:spPr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0" y="0"/>
            <a:ext cx="1594213" cy="573592"/>
            <a:chOff x="0" y="0"/>
            <a:chExt cx="2495550" cy="8978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842" r="0" b="-8842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67180" y="816420"/>
            <a:ext cx="2320558" cy="2104235"/>
          </a:xfrm>
          <a:custGeom>
            <a:avLst/>
            <a:gdLst/>
            <a:ahLst/>
            <a:cxnLst/>
            <a:rect r="r" b="b" t="t" l="l"/>
            <a:pathLst>
              <a:path h="2104235" w="2320558">
                <a:moveTo>
                  <a:pt x="0" y="0"/>
                </a:moveTo>
                <a:lnTo>
                  <a:pt x="2320558" y="0"/>
                </a:lnTo>
                <a:lnTo>
                  <a:pt x="2320558" y="2104235"/>
                </a:lnTo>
                <a:lnTo>
                  <a:pt x="0" y="21042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0" y="-714342"/>
            <a:ext cx="8388393" cy="11715684"/>
            <a:chOff x="0" y="0"/>
            <a:chExt cx="8122920" cy="113449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810" y="7620"/>
              <a:ext cx="6701790" cy="11341101"/>
            </a:xfrm>
            <a:custGeom>
              <a:avLst/>
              <a:gdLst/>
              <a:ahLst/>
              <a:cxnLst/>
              <a:rect r="r" b="b" t="t" l="l"/>
              <a:pathLst>
                <a:path h="11341101" w="6701790">
                  <a:moveTo>
                    <a:pt x="3810" y="640080"/>
                  </a:moveTo>
                  <a:lnTo>
                    <a:pt x="492760" y="734060"/>
                  </a:lnTo>
                  <a:lnTo>
                    <a:pt x="1151890" y="584200"/>
                  </a:lnTo>
                  <a:lnTo>
                    <a:pt x="1245870" y="452120"/>
                  </a:lnTo>
                  <a:lnTo>
                    <a:pt x="1583690" y="358140"/>
                  </a:lnTo>
                  <a:lnTo>
                    <a:pt x="1715770" y="509270"/>
                  </a:lnTo>
                  <a:lnTo>
                    <a:pt x="2317750" y="208280"/>
                  </a:lnTo>
                  <a:lnTo>
                    <a:pt x="2468880" y="152400"/>
                  </a:lnTo>
                  <a:lnTo>
                    <a:pt x="2769870" y="208280"/>
                  </a:lnTo>
                  <a:lnTo>
                    <a:pt x="4048760" y="0"/>
                  </a:lnTo>
                  <a:lnTo>
                    <a:pt x="5967730" y="0"/>
                  </a:lnTo>
                  <a:lnTo>
                    <a:pt x="6099810" y="262890"/>
                  </a:lnTo>
                  <a:lnTo>
                    <a:pt x="6701790" y="471170"/>
                  </a:lnTo>
                  <a:lnTo>
                    <a:pt x="6682740" y="697230"/>
                  </a:lnTo>
                  <a:lnTo>
                    <a:pt x="6287770" y="2202180"/>
                  </a:lnTo>
                  <a:lnTo>
                    <a:pt x="6269990" y="2371090"/>
                  </a:lnTo>
                  <a:lnTo>
                    <a:pt x="6209030" y="2504440"/>
                  </a:lnTo>
                  <a:lnTo>
                    <a:pt x="6033770" y="2745740"/>
                  </a:lnTo>
                  <a:lnTo>
                    <a:pt x="5778500" y="3462020"/>
                  </a:lnTo>
                  <a:lnTo>
                    <a:pt x="5529580" y="3608070"/>
                  </a:lnTo>
                  <a:lnTo>
                    <a:pt x="5295900" y="3915410"/>
                  </a:lnTo>
                  <a:lnTo>
                    <a:pt x="5251450" y="5346700"/>
                  </a:lnTo>
                  <a:lnTo>
                    <a:pt x="5113020" y="6289041"/>
                  </a:lnTo>
                  <a:lnTo>
                    <a:pt x="5083810" y="6946900"/>
                  </a:lnTo>
                  <a:lnTo>
                    <a:pt x="4996181" y="7020560"/>
                  </a:lnTo>
                  <a:lnTo>
                    <a:pt x="4973321" y="7194550"/>
                  </a:lnTo>
                  <a:lnTo>
                    <a:pt x="5053331" y="7552691"/>
                  </a:lnTo>
                  <a:lnTo>
                    <a:pt x="4673601" y="7903210"/>
                  </a:lnTo>
                  <a:lnTo>
                    <a:pt x="4315460" y="8232141"/>
                  </a:lnTo>
                  <a:lnTo>
                    <a:pt x="4169410" y="8933180"/>
                  </a:lnTo>
                  <a:lnTo>
                    <a:pt x="4030980" y="9254490"/>
                  </a:lnTo>
                  <a:lnTo>
                    <a:pt x="3563620" y="9771380"/>
                  </a:lnTo>
                  <a:lnTo>
                    <a:pt x="3431540" y="10137140"/>
                  </a:lnTo>
                  <a:lnTo>
                    <a:pt x="3153410" y="10370820"/>
                  </a:lnTo>
                  <a:lnTo>
                    <a:pt x="2912110" y="10538460"/>
                  </a:lnTo>
                  <a:lnTo>
                    <a:pt x="2890520" y="10932160"/>
                  </a:lnTo>
                  <a:lnTo>
                    <a:pt x="2181860" y="11341100"/>
                  </a:lnTo>
                  <a:lnTo>
                    <a:pt x="0" y="11341100"/>
                  </a:lnTo>
                  <a:cubicBezTo>
                    <a:pt x="0" y="11342370"/>
                    <a:pt x="3810" y="623570"/>
                    <a:pt x="3810" y="640080"/>
                  </a:cubicBezTo>
                  <a:close/>
                </a:path>
              </a:pathLst>
            </a:custGeom>
            <a:blipFill>
              <a:blip r:embed="rId3"/>
              <a:stretch>
                <a:fillRect l="-74819" t="0" r="-126024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185670" y="7620"/>
              <a:ext cx="5947184" cy="11341101"/>
            </a:xfrm>
            <a:custGeom>
              <a:avLst/>
              <a:gdLst/>
              <a:ahLst/>
              <a:cxnLst/>
              <a:rect r="r" b="b" t="t" l="l"/>
              <a:pathLst>
                <a:path h="11341101" w="5947184">
                  <a:moveTo>
                    <a:pt x="5942330" y="0"/>
                  </a:moveTo>
                  <a:lnTo>
                    <a:pt x="3785870" y="0"/>
                  </a:lnTo>
                  <a:lnTo>
                    <a:pt x="3917950" y="262890"/>
                  </a:lnTo>
                  <a:lnTo>
                    <a:pt x="4519930" y="471170"/>
                  </a:lnTo>
                  <a:lnTo>
                    <a:pt x="4500880" y="697230"/>
                  </a:lnTo>
                  <a:lnTo>
                    <a:pt x="4105910" y="2202180"/>
                  </a:lnTo>
                  <a:lnTo>
                    <a:pt x="4088130" y="2371090"/>
                  </a:lnTo>
                  <a:lnTo>
                    <a:pt x="4027170" y="2504440"/>
                  </a:lnTo>
                  <a:lnTo>
                    <a:pt x="3851910" y="2745740"/>
                  </a:lnTo>
                  <a:lnTo>
                    <a:pt x="3596640" y="3462020"/>
                  </a:lnTo>
                  <a:lnTo>
                    <a:pt x="3347720" y="3608070"/>
                  </a:lnTo>
                  <a:lnTo>
                    <a:pt x="3114040" y="3915410"/>
                  </a:lnTo>
                  <a:lnTo>
                    <a:pt x="3069590" y="5346700"/>
                  </a:lnTo>
                  <a:lnTo>
                    <a:pt x="2931160" y="6289041"/>
                  </a:lnTo>
                  <a:lnTo>
                    <a:pt x="2901950" y="6946900"/>
                  </a:lnTo>
                  <a:lnTo>
                    <a:pt x="2814321" y="7020560"/>
                  </a:lnTo>
                  <a:lnTo>
                    <a:pt x="2791461" y="7194550"/>
                  </a:lnTo>
                  <a:lnTo>
                    <a:pt x="2871471" y="7552691"/>
                  </a:lnTo>
                  <a:lnTo>
                    <a:pt x="2491741" y="7903210"/>
                  </a:lnTo>
                  <a:lnTo>
                    <a:pt x="2133600" y="8232141"/>
                  </a:lnTo>
                  <a:lnTo>
                    <a:pt x="1987550" y="8933180"/>
                  </a:lnTo>
                  <a:lnTo>
                    <a:pt x="1849120" y="9254490"/>
                  </a:lnTo>
                  <a:lnTo>
                    <a:pt x="1381760" y="9771380"/>
                  </a:lnTo>
                  <a:lnTo>
                    <a:pt x="1249680" y="10137140"/>
                  </a:lnTo>
                  <a:lnTo>
                    <a:pt x="971550" y="10370820"/>
                  </a:lnTo>
                  <a:lnTo>
                    <a:pt x="730250" y="10538460"/>
                  </a:lnTo>
                  <a:lnTo>
                    <a:pt x="708660" y="10932160"/>
                  </a:lnTo>
                  <a:lnTo>
                    <a:pt x="0" y="11341100"/>
                  </a:lnTo>
                  <a:lnTo>
                    <a:pt x="5930900" y="11341100"/>
                  </a:lnTo>
                  <a:cubicBezTo>
                    <a:pt x="5932170" y="11342370"/>
                    <a:pt x="5957570" y="15240"/>
                    <a:pt x="5942330" y="0"/>
                  </a:cubicBezTo>
                  <a:close/>
                </a:path>
              </a:pathLst>
            </a:custGeom>
            <a:blipFill>
              <a:blip r:embed="rId4"/>
              <a:stretch>
                <a:fillRect l="-19534" t="0" r="-18244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810" y="7620"/>
              <a:ext cx="4048760" cy="734060"/>
            </a:xfrm>
            <a:custGeom>
              <a:avLst/>
              <a:gdLst/>
              <a:ahLst/>
              <a:cxnLst/>
              <a:rect r="r" b="b" t="t" l="l"/>
              <a:pathLst>
                <a:path h="734060" w="4048760">
                  <a:moveTo>
                    <a:pt x="0" y="7620"/>
                  </a:moveTo>
                  <a:cubicBezTo>
                    <a:pt x="0" y="7620"/>
                    <a:pt x="3810" y="622300"/>
                    <a:pt x="3810" y="640080"/>
                  </a:cubicBezTo>
                  <a:lnTo>
                    <a:pt x="492760" y="734060"/>
                  </a:lnTo>
                  <a:lnTo>
                    <a:pt x="1151890" y="584200"/>
                  </a:lnTo>
                  <a:lnTo>
                    <a:pt x="1245870" y="452120"/>
                  </a:lnTo>
                  <a:lnTo>
                    <a:pt x="1583690" y="358140"/>
                  </a:lnTo>
                  <a:lnTo>
                    <a:pt x="1715770" y="509270"/>
                  </a:lnTo>
                  <a:lnTo>
                    <a:pt x="2317750" y="208280"/>
                  </a:lnTo>
                  <a:lnTo>
                    <a:pt x="2468880" y="152400"/>
                  </a:lnTo>
                  <a:lnTo>
                    <a:pt x="2769870" y="208280"/>
                  </a:lnTo>
                  <a:lnTo>
                    <a:pt x="4048760" y="0"/>
                  </a:lnTo>
                  <a:lnTo>
                    <a:pt x="254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-3810" y="3810"/>
              <a:ext cx="6855460" cy="11337290"/>
            </a:xfrm>
            <a:custGeom>
              <a:avLst/>
              <a:gdLst/>
              <a:ahLst/>
              <a:cxnLst/>
              <a:rect r="r" b="b" t="t" l="l"/>
              <a:pathLst>
                <a:path h="11337290" w="6855460">
                  <a:moveTo>
                    <a:pt x="0" y="0"/>
                  </a:moveTo>
                  <a:lnTo>
                    <a:pt x="6855460" y="0"/>
                  </a:lnTo>
                  <a:lnTo>
                    <a:pt x="6855460" y="11337290"/>
                  </a:lnTo>
                  <a:lnTo>
                    <a:pt x="0" y="113372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6" t="0" r="-26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5395887" y="4822892"/>
            <a:ext cx="12674540" cy="3873689"/>
          </a:xfrm>
          <a:custGeom>
            <a:avLst/>
            <a:gdLst/>
            <a:ahLst/>
            <a:cxnLst/>
            <a:rect r="r" b="b" t="t" l="l"/>
            <a:pathLst>
              <a:path h="3873689" w="12674540">
                <a:moveTo>
                  <a:pt x="0" y="0"/>
                </a:moveTo>
                <a:lnTo>
                  <a:pt x="12674540" y="0"/>
                </a:lnTo>
                <a:lnTo>
                  <a:pt x="12674540" y="3873689"/>
                </a:lnTo>
                <a:lnTo>
                  <a:pt x="0" y="38736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23" t="-3858" r="-1823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962555" y="3222692"/>
            <a:ext cx="692980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4"/>
              </a:lnSpc>
            </a:pPr>
            <a:r>
              <a:rPr lang="en-US" sz="6303" b="true">
                <a:solidFill>
                  <a:srgbClr val="4040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SUBSIDIO </a:t>
            </a:r>
            <a:r>
              <a:rPr lang="en-US" sz="6303" b="true">
                <a:solidFill>
                  <a:srgbClr val="0092D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DS49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62328" y="4175192"/>
            <a:ext cx="839646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2303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Decreto Supremo del Ministerio de Vivienda de Chile</a:t>
            </a:r>
          </a:p>
        </p:txBody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0" y="0"/>
            <a:ext cx="1594213" cy="573592"/>
            <a:chOff x="0" y="0"/>
            <a:chExt cx="2495550" cy="8978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8842" r="0" b="-8842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5980569" y="-312233"/>
            <a:ext cx="2557462" cy="885825"/>
            <a:chOff x="0" y="0"/>
            <a:chExt cx="3409950" cy="1181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63080" r="0" b="-125629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4709096" y="9001381"/>
            <a:ext cx="132040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2303" b="true">
                <a:solidFill>
                  <a:srgbClr val="23487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 entidad responsable</a:t>
            </a:r>
            <a:r>
              <a:rPr lang="en-US" sz="2303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 (constructora / entidad patrocinante / TECHO ) </a:t>
            </a:r>
            <a:r>
              <a:rPr lang="en-US" sz="2303" b="true">
                <a:solidFill>
                  <a:srgbClr val="23487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tiene un plazo para responder y gestionar</a:t>
            </a:r>
            <a:r>
              <a:rPr lang="en-US" sz="2303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 las observaciones o reclamos de postventa de </a:t>
            </a:r>
            <a:r>
              <a:rPr lang="en-US" sz="2303" b="true">
                <a:solidFill>
                  <a:srgbClr val="23487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120 días.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980569" y="-406615"/>
            <a:ext cx="2557462" cy="885825"/>
            <a:chOff x="0" y="0"/>
            <a:chExt cx="3409950" cy="118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3080" r="0" b="-125629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774779" y="131342"/>
            <a:ext cx="4219430" cy="2315412"/>
          </a:xfrm>
          <a:custGeom>
            <a:avLst/>
            <a:gdLst/>
            <a:ahLst/>
            <a:cxnLst/>
            <a:rect r="r" b="b" t="t" l="l"/>
            <a:pathLst>
              <a:path h="2315412" w="4219430">
                <a:moveTo>
                  <a:pt x="0" y="0"/>
                </a:moveTo>
                <a:lnTo>
                  <a:pt x="4219430" y="0"/>
                </a:lnTo>
                <a:lnTo>
                  <a:pt x="4219430" y="2315412"/>
                </a:lnTo>
                <a:lnTo>
                  <a:pt x="0" y="23154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0" y="-553475"/>
            <a:ext cx="7931676" cy="11077808"/>
            <a:chOff x="0" y="0"/>
            <a:chExt cx="8122920" cy="11344910"/>
          </a:xfrm>
        </p:grpSpPr>
        <p:sp>
          <p:nvSpPr>
            <p:cNvPr name="Freeform 6" id="6"/>
            <p:cNvSpPr/>
            <p:nvPr/>
          </p:nvSpPr>
          <p:spPr>
            <a:xfrm flipH="false" flipV="false" rot="-1014195">
              <a:off x="-1500171" y="-108174"/>
              <a:ext cx="9572757" cy="10872006"/>
            </a:xfrm>
            <a:custGeom>
              <a:avLst/>
              <a:gdLst/>
              <a:ahLst/>
              <a:cxnLst/>
              <a:rect r="r" b="b" t="t" l="l"/>
              <a:pathLst>
                <a:path h="10872006" w="9572757">
                  <a:moveTo>
                    <a:pt x="3115037" y="18"/>
                  </a:moveTo>
                  <a:lnTo>
                    <a:pt x="3555538" y="232103"/>
                  </a:lnTo>
                  <a:lnTo>
                    <a:pt x="4229764" y="280364"/>
                  </a:lnTo>
                  <a:lnTo>
                    <a:pt x="4358087" y="181316"/>
                  </a:lnTo>
                  <a:lnTo>
                    <a:pt x="4708638" y="189619"/>
                  </a:lnTo>
                  <a:lnTo>
                    <a:pt x="4791069" y="372623"/>
                  </a:lnTo>
                  <a:lnTo>
                    <a:pt x="5454557" y="259666"/>
                  </a:lnTo>
                  <a:lnTo>
                    <a:pt x="5615405" y="250143"/>
                  </a:lnTo>
                  <a:lnTo>
                    <a:pt x="5887144" y="391123"/>
                  </a:lnTo>
                  <a:lnTo>
                    <a:pt x="7171341" y="563687"/>
                  </a:lnTo>
                  <a:lnTo>
                    <a:pt x="9007406" y="1121640"/>
                  </a:lnTo>
                  <a:lnTo>
                    <a:pt x="9057343" y="1411576"/>
                  </a:lnTo>
                  <a:lnTo>
                    <a:pt x="9572757" y="1785887"/>
                  </a:lnTo>
                  <a:lnTo>
                    <a:pt x="9488801" y="1996642"/>
                  </a:lnTo>
                  <a:lnTo>
                    <a:pt x="8673321" y="3321734"/>
                  </a:lnTo>
                  <a:lnTo>
                    <a:pt x="8607197" y="3478177"/>
                  </a:lnTo>
                  <a:lnTo>
                    <a:pt x="8510099" y="3588041"/>
                  </a:lnTo>
                  <a:lnTo>
                    <a:pt x="8272251" y="3767958"/>
                  </a:lnTo>
                  <a:lnTo>
                    <a:pt x="7819746" y="4379071"/>
                  </a:lnTo>
                  <a:lnTo>
                    <a:pt x="7539115" y="4446436"/>
                  </a:lnTo>
                  <a:lnTo>
                    <a:pt x="7226170" y="4672555"/>
                  </a:lnTo>
                  <a:lnTo>
                    <a:pt x="6767483" y="6029085"/>
                  </a:lnTo>
                  <a:lnTo>
                    <a:pt x="6361042" y="6890464"/>
                  </a:lnTo>
                  <a:lnTo>
                    <a:pt x="6141817" y="7511409"/>
                  </a:lnTo>
                  <a:lnTo>
                    <a:pt x="6036556" y="7556408"/>
                  </a:lnTo>
                  <a:lnTo>
                    <a:pt x="5964095" y="7716234"/>
                  </a:lnTo>
                  <a:lnTo>
                    <a:pt x="5936517" y="8082165"/>
                  </a:lnTo>
                  <a:lnTo>
                    <a:pt x="5471276" y="8307132"/>
                  </a:lnTo>
                  <a:lnTo>
                    <a:pt x="5032970" y="8517720"/>
                  </a:lnTo>
                  <a:lnTo>
                    <a:pt x="4689398" y="9146007"/>
                  </a:lnTo>
                  <a:lnTo>
                    <a:pt x="4463525" y="9413186"/>
                  </a:lnTo>
                  <a:lnTo>
                    <a:pt x="3866067" y="9771857"/>
                  </a:lnTo>
                  <a:lnTo>
                    <a:pt x="3633347" y="10083412"/>
                  </a:lnTo>
                  <a:lnTo>
                    <a:pt x="3299289" y="10226129"/>
                  </a:lnTo>
                  <a:lnTo>
                    <a:pt x="3019671" y="10316367"/>
                  </a:lnTo>
                  <a:lnTo>
                    <a:pt x="2884543" y="10686780"/>
                  </a:lnTo>
                  <a:lnTo>
                    <a:pt x="2087597" y="10872005"/>
                  </a:lnTo>
                  <a:lnTo>
                    <a:pt x="0" y="10237615"/>
                  </a:lnTo>
                  <a:cubicBezTo>
                    <a:pt x="-369" y="10238830"/>
                    <a:pt x="3119838" y="-15779"/>
                    <a:pt x="3115037" y="18"/>
                  </a:cubicBezTo>
                  <a:close/>
                </a:path>
              </a:pathLst>
            </a:custGeom>
            <a:blipFill>
              <a:blip r:embed="rId5"/>
              <a:stretch>
                <a:fillRect l="-60993" t="-8414" r="-39163" b="-12087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185670" y="7620"/>
              <a:ext cx="5947184" cy="11341101"/>
            </a:xfrm>
            <a:custGeom>
              <a:avLst/>
              <a:gdLst/>
              <a:ahLst/>
              <a:cxnLst/>
              <a:rect r="r" b="b" t="t" l="l"/>
              <a:pathLst>
                <a:path h="11341101" w="5947184">
                  <a:moveTo>
                    <a:pt x="5942330" y="0"/>
                  </a:moveTo>
                  <a:lnTo>
                    <a:pt x="3785870" y="0"/>
                  </a:lnTo>
                  <a:lnTo>
                    <a:pt x="3917950" y="262890"/>
                  </a:lnTo>
                  <a:lnTo>
                    <a:pt x="4519930" y="471170"/>
                  </a:lnTo>
                  <a:lnTo>
                    <a:pt x="4500880" y="697230"/>
                  </a:lnTo>
                  <a:lnTo>
                    <a:pt x="4105910" y="2202180"/>
                  </a:lnTo>
                  <a:lnTo>
                    <a:pt x="4088130" y="2371090"/>
                  </a:lnTo>
                  <a:lnTo>
                    <a:pt x="4027170" y="2504440"/>
                  </a:lnTo>
                  <a:lnTo>
                    <a:pt x="3851910" y="2745740"/>
                  </a:lnTo>
                  <a:lnTo>
                    <a:pt x="3596640" y="3462020"/>
                  </a:lnTo>
                  <a:lnTo>
                    <a:pt x="3347720" y="3608070"/>
                  </a:lnTo>
                  <a:lnTo>
                    <a:pt x="3114040" y="3915410"/>
                  </a:lnTo>
                  <a:lnTo>
                    <a:pt x="3069590" y="5346700"/>
                  </a:lnTo>
                  <a:lnTo>
                    <a:pt x="2931160" y="6289041"/>
                  </a:lnTo>
                  <a:lnTo>
                    <a:pt x="2901950" y="6946900"/>
                  </a:lnTo>
                  <a:lnTo>
                    <a:pt x="2814321" y="7020560"/>
                  </a:lnTo>
                  <a:lnTo>
                    <a:pt x="2791461" y="7194550"/>
                  </a:lnTo>
                  <a:lnTo>
                    <a:pt x="2871471" y="7552691"/>
                  </a:lnTo>
                  <a:lnTo>
                    <a:pt x="2491741" y="7903210"/>
                  </a:lnTo>
                  <a:lnTo>
                    <a:pt x="2133600" y="8232141"/>
                  </a:lnTo>
                  <a:lnTo>
                    <a:pt x="1987550" y="8933180"/>
                  </a:lnTo>
                  <a:lnTo>
                    <a:pt x="1849120" y="9254490"/>
                  </a:lnTo>
                  <a:lnTo>
                    <a:pt x="1381760" y="9771380"/>
                  </a:lnTo>
                  <a:lnTo>
                    <a:pt x="1249680" y="10137140"/>
                  </a:lnTo>
                  <a:lnTo>
                    <a:pt x="971550" y="10370820"/>
                  </a:lnTo>
                  <a:lnTo>
                    <a:pt x="730250" y="10538460"/>
                  </a:lnTo>
                  <a:lnTo>
                    <a:pt x="708660" y="10932160"/>
                  </a:lnTo>
                  <a:lnTo>
                    <a:pt x="0" y="11341100"/>
                  </a:lnTo>
                  <a:lnTo>
                    <a:pt x="5930900" y="11341100"/>
                  </a:lnTo>
                  <a:cubicBezTo>
                    <a:pt x="5932170" y="11342370"/>
                    <a:pt x="5957570" y="15240"/>
                    <a:pt x="594233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810" y="7620"/>
              <a:ext cx="4048760" cy="734060"/>
            </a:xfrm>
            <a:custGeom>
              <a:avLst/>
              <a:gdLst/>
              <a:ahLst/>
              <a:cxnLst/>
              <a:rect r="r" b="b" t="t" l="l"/>
              <a:pathLst>
                <a:path h="734060" w="4048760">
                  <a:moveTo>
                    <a:pt x="0" y="7620"/>
                  </a:moveTo>
                  <a:cubicBezTo>
                    <a:pt x="0" y="7620"/>
                    <a:pt x="3810" y="622300"/>
                    <a:pt x="3810" y="640080"/>
                  </a:cubicBezTo>
                  <a:lnTo>
                    <a:pt x="492760" y="734060"/>
                  </a:lnTo>
                  <a:lnTo>
                    <a:pt x="1151890" y="584200"/>
                  </a:lnTo>
                  <a:lnTo>
                    <a:pt x="1245870" y="452120"/>
                  </a:lnTo>
                  <a:lnTo>
                    <a:pt x="1583690" y="358140"/>
                  </a:lnTo>
                  <a:lnTo>
                    <a:pt x="1715770" y="509270"/>
                  </a:lnTo>
                  <a:lnTo>
                    <a:pt x="2317750" y="208280"/>
                  </a:lnTo>
                  <a:lnTo>
                    <a:pt x="2468880" y="152400"/>
                  </a:lnTo>
                  <a:lnTo>
                    <a:pt x="2769870" y="208280"/>
                  </a:lnTo>
                  <a:lnTo>
                    <a:pt x="4048760" y="0"/>
                  </a:lnTo>
                  <a:lnTo>
                    <a:pt x="254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-3810" y="3810"/>
              <a:ext cx="6855460" cy="11337290"/>
            </a:xfrm>
            <a:custGeom>
              <a:avLst/>
              <a:gdLst/>
              <a:ahLst/>
              <a:cxnLst/>
              <a:rect r="r" b="b" t="t" l="l"/>
              <a:pathLst>
                <a:path h="11337290" w="6855460">
                  <a:moveTo>
                    <a:pt x="0" y="0"/>
                  </a:moveTo>
                  <a:lnTo>
                    <a:pt x="6855460" y="0"/>
                  </a:lnTo>
                  <a:lnTo>
                    <a:pt x="6855460" y="11337290"/>
                  </a:lnTo>
                  <a:lnTo>
                    <a:pt x="0" y="113372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6" t="0" r="-26" b="0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29723" y="266429"/>
            <a:ext cx="1182786" cy="425562"/>
            <a:chOff x="0" y="0"/>
            <a:chExt cx="2495550" cy="8978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8842" r="0" b="-8842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-94452" y="-745842"/>
            <a:ext cx="8394815" cy="11724653"/>
            <a:chOff x="0" y="0"/>
            <a:chExt cx="8122920" cy="11344910"/>
          </a:xfrm>
        </p:grpSpPr>
        <p:sp>
          <p:nvSpPr>
            <p:cNvPr name="Freeform 13" id="13"/>
            <p:cNvSpPr/>
            <p:nvPr/>
          </p:nvSpPr>
          <p:spPr>
            <a:xfrm flipH="false" flipV="false" rot="-1014195">
              <a:off x="-1500171" y="-108174"/>
              <a:ext cx="9572757" cy="10872006"/>
            </a:xfrm>
            <a:custGeom>
              <a:avLst/>
              <a:gdLst/>
              <a:ahLst/>
              <a:cxnLst/>
              <a:rect r="r" b="b" t="t" l="l"/>
              <a:pathLst>
                <a:path h="10872006" w="9572757">
                  <a:moveTo>
                    <a:pt x="3115037" y="18"/>
                  </a:moveTo>
                  <a:lnTo>
                    <a:pt x="3555538" y="232103"/>
                  </a:lnTo>
                  <a:lnTo>
                    <a:pt x="4229764" y="280364"/>
                  </a:lnTo>
                  <a:lnTo>
                    <a:pt x="4358087" y="181316"/>
                  </a:lnTo>
                  <a:lnTo>
                    <a:pt x="4708638" y="189619"/>
                  </a:lnTo>
                  <a:lnTo>
                    <a:pt x="4791069" y="372623"/>
                  </a:lnTo>
                  <a:lnTo>
                    <a:pt x="5454557" y="259666"/>
                  </a:lnTo>
                  <a:lnTo>
                    <a:pt x="5615405" y="250143"/>
                  </a:lnTo>
                  <a:lnTo>
                    <a:pt x="5887144" y="391123"/>
                  </a:lnTo>
                  <a:lnTo>
                    <a:pt x="7171341" y="563687"/>
                  </a:lnTo>
                  <a:lnTo>
                    <a:pt x="9007406" y="1121640"/>
                  </a:lnTo>
                  <a:lnTo>
                    <a:pt x="9057343" y="1411576"/>
                  </a:lnTo>
                  <a:lnTo>
                    <a:pt x="9572757" y="1785887"/>
                  </a:lnTo>
                  <a:lnTo>
                    <a:pt x="9488801" y="1996642"/>
                  </a:lnTo>
                  <a:lnTo>
                    <a:pt x="8673321" y="3321734"/>
                  </a:lnTo>
                  <a:lnTo>
                    <a:pt x="8607197" y="3478177"/>
                  </a:lnTo>
                  <a:lnTo>
                    <a:pt x="8510099" y="3588041"/>
                  </a:lnTo>
                  <a:lnTo>
                    <a:pt x="8272251" y="3767958"/>
                  </a:lnTo>
                  <a:lnTo>
                    <a:pt x="7819746" y="4379071"/>
                  </a:lnTo>
                  <a:lnTo>
                    <a:pt x="7539115" y="4446436"/>
                  </a:lnTo>
                  <a:lnTo>
                    <a:pt x="7226170" y="4672555"/>
                  </a:lnTo>
                  <a:lnTo>
                    <a:pt x="6767483" y="6029085"/>
                  </a:lnTo>
                  <a:lnTo>
                    <a:pt x="6361042" y="6890464"/>
                  </a:lnTo>
                  <a:lnTo>
                    <a:pt x="6141817" y="7511409"/>
                  </a:lnTo>
                  <a:lnTo>
                    <a:pt x="6036556" y="7556408"/>
                  </a:lnTo>
                  <a:lnTo>
                    <a:pt x="5964095" y="7716234"/>
                  </a:lnTo>
                  <a:lnTo>
                    <a:pt x="5936517" y="8082165"/>
                  </a:lnTo>
                  <a:lnTo>
                    <a:pt x="5471276" y="8307132"/>
                  </a:lnTo>
                  <a:lnTo>
                    <a:pt x="5032970" y="8517720"/>
                  </a:lnTo>
                  <a:lnTo>
                    <a:pt x="4689398" y="9146007"/>
                  </a:lnTo>
                  <a:lnTo>
                    <a:pt x="4463525" y="9413186"/>
                  </a:lnTo>
                  <a:lnTo>
                    <a:pt x="3866067" y="9771857"/>
                  </a:lnTo>
                  <a:lnTo>
                    <a:pt x="3633347" y="10083412"/>
                  </a:lnTo>
                  <a:lnTo>
                    <a:pt x="3299289" y="10226129"/>
                  </a:lnTo>
                  <a:lnTo>
                    <a:pt x="3019671" y="10316367"/>
                  </a:lnTo>
                  <a:lnTo>
                    <a:pt x="2884543" y="10686780"/>
                  </a:lnTo>
                  <a:lnTo>
                    <a:pt x="2087597" y="10872005"/>
                  </a:lnTo>
                  <a:lnTo>
                    <a:pt x="0" y="10237615"/>
                  </a:lnTo>
                  <a:cubicBezTo>
                    <a:pt x="-369" y="10238830"/>
                    <a:pt x="3119838" y="-15779"/>
                    <a:pt x="3115037" y="18"/>
                  </a:cubicBezTo>
                  <a:close/>
                </a:path>
              </a:pathLst>
            </a:custGeom>
            <a:blipFill>
              <a:blip r:embed="rId5"/>
              <a:stretch>
                <a:fillRect l="-60993" t="-8414" r="-39163" b="-12087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185670" y="7620"/>
              <a:ext cx="5947184" cy="11341101"/>
            </a:xfrm>
            <a:custGeom>
              <a:avLst/>
              <a:gdLst/>
              <a:ahLst/>
              <a:cxnLst/>
              <a:rect r="r" b="b" t="t" l="l"/>
              <a:pathLst>
                <a:path h="11341101" w="5947184">
                  <a:moveTo>
                    <a:pt x="5942330" y="0"/>
                  </a:moveTo>
                  <a:lnTo>
                    <a:pt x="3785870" y="0"/>
                  </a:lnTo>
                  <a:lnTo>
                    <a:pt x="3917950" y="262890"/>
                  </a:lnTo>
                  <a:lnTo>
                    <a:pt x="4519930" y="471170"/>
                  </a:lnTo>
                  <a:lnTo>
                    <a:pt x="4500880" y="697230"/>
                  </a:lnTo>
                  <a:lnTo>
                    <a:pt x="4105910" y="2202180"/>
                  </a:lnTo>
                  <a:lnTo>
                    <a:pt x="4088130" y="2371090"/>
                  </a:lnTo>
                  <a:lnTo>
                    <a:pt x="4027170" y="2504440"/>
                  </a:lnTo>
                  <a:lnTo>
                    <a:pt x="3851910" y="2745740"/>
                  </a:lnTo>
                  <a:lnTo>
                    <a:pt x="3596640" y="3462020"/>
                  </a:lnTo>
                  <a:lnTo>
                    <a:pt x="3347720" y="3608070"/>
                  </a:lnTo>
                  <a:lnTo>
                    <a:pt x="3114040" y="3915410"/>
                  </a:lnTo>
                  <a:lnTo>
                    <a:pt x="3069590" y="5346700"/>
                  </a:lnTo>
                  <a:lnTo>
                    <a:pt x="2931160" y="6289041"/>
                  </a:lnTo>
                  <a:lnTo>
                    <a:pt x="2901950" y="6946900"/>
                  </a:lnTo>
                  <a:lnTo>
                    <a:pt x="2814321" y="7020560"/>
                  </a:lnTo>
                  <a:lnTo>
                    <a:pt x="2791461" y="7194550"/>
                  </a:lnTo>
                  <a:lnTo>
                    <a:pt x="2871471" y="7552691"/>
                  </a:lnTo>
                  <a:lnTo>
                    <a:pt x="2491741" y="7903210"/>
                  </a:lnTo>
                  <a:lnTo>
                    <a:pt x="2133600" y="8232141"/>
                  </a:lnTo>
                  <a:lnTo>
                    <a:pt x="1987550" y="8933180"/>
                  </a:lnTo>
                  <a:lnTo>
                    <a:pt x="1849120" y="9254490"/>
                  </a:lnTo>
                  <a:lnTo>
                    <a:pt x="1381760" y="9771380"/>
                  </a:lnTo>
                  <a:lnTo>
                    <a:pt x="1249680" y="10137140"/>
                  </a:lnTo>
                  <a:lnTo>
                    <a:pt x="971550" y="10370820"/>
                  </a:lnTo>
                  <a:lnTo>
                    <a:pt x="730250" y="10538460"/>
                  </a:lnTo>
                  <a:lnTo>
                    <a:pt x="708660" y="10932160"/>
                  </a:lnTo>
                  <a:lnTo>
                    <a:pt x="0" y="11341100"/>
                  </a:lnTo>
                  <a:lnTo>
                    <a:pt x="5930900" y="11341100"/>
                  </a:lnTo>
                  <a:cubicBezTo>
                    <a:pt x="5932170" y="11342370"/>
                    <a:pt x="5957570" y="15240"/>
                    <a:pt x="5942330" y="0"/>
                  </a:cubicBezTo>
                  <a:close/>
                </a:path>
              </a:pathLst>
            </a:custGeom>
            <a:blipFill>
              <a:blip r:embed="rId8"/>
              <a:stretch>
                <a:fillRect l="-20218" t="0" r="-1756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810" y="7620"/>
              <a:ext cx="4048760" cy="734060"/>
            </a:xfrm>
            <a:custGeom>
              <a:avLst/>
              <a:gdLst/>
              <a:ahLst/>
              <a:cxnLst/>
              <a:rect r="r" b="b" t="t" l="l"/>
              <a:pathLst>
                <a:path h="734060" w="4048760">
                  <a:moveTo>
                    <a:pt x="0" y="7620"/>
                  </a:moveTo>
                  <a:cubicBezTo>
                    <a:pt x="0" y="7620"/>
                    <a:pt x="3810" y="622300"/>
                    <a:pt x="3810" y="640080"/>
                  </a:cubicBezTo>
                  <a:lnTo>
                    <a:pt x="492760" y="734060"/>
                  </a:lnTo>
                  <a:lnTo>
                    <a:pt x="1151890" y="584200"/>
                  </a:lnTo>
                  <a:lnTo>
                    <a:pt x="1245870" y="452120"/>
                  </a:lnTo>
                  <a:lnTo>
                    <a:pt x="1583690" y="358140"/>
                  </a:lnTo>
                  <a:lnTo>
                    <a:pt x="1715770" y="509270"/>
                  </a:lnTo>
                  <a:lnTo>
                    <a:pt x="2317750" y="208280"/>
                  </a:lnTo>
                  <a:lnTo>
                    <a:pt x="2468880" y="152400"/>
                  </a:lnTo>
                  <a:lnTo>
                    <a:pt x="2769870" y="208280"/>
                  </a:lnTo>
                  <a:lnTo>
                    <a:pt x="4048760" y="0"/>
                  </a:lnTo>
                  <a:lnTo>
                    <a:pt x="254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-3810" y="3810"/>
              <a:ext cx="6855460" cy="11337290"/>
            </a:xfrm>
            <a:custGeom>
              <a:avLst/>
              <a:gdLst/>
              <a:ahLst/>
              <a:cxnLst/>
              <a:rect r="r" b="b" t="t" l="l"/>
              <a:pathLst>
                <a:path h="11337290" w="6855460">
                  <a:moveTo>
                    <a:pt x="0" y="0"/>
                  </a:moveTo>
                  <a:lnTo>
                    <a:pt x="6855460" y="0"/>
                  </a:lnTo>
                  <a:lnTo>
                    <a:pt x="6855460" y="11337290"/>
                  </a:lnTo>
                  <a:lnTo>
                    <a:pt x="0" y="113372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6" t="0" r="-26" b="0"/>
              </a:stretch>
            </a:blipFill>
          </p:spPr>
        </p:sp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634814" y="3799953"/>
            <a:ext cx="12812428" cy="6701298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7412502" y="2611298"/>
            <a:ext cx="6943983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spc="76">
                <a:solidFill>
                  <a:srgbClr val="404040"/>
                </a:solidFill>
                <a:latin typeface="Canva Sans"/>
                <a:ea typeface="Canva Sans"/>
                <a:cs typeface="Canva Sans"/>
                <a:sym typeface="Canva Sans"/>
              </a:rPr>
              <a:t>En </a:t>
            </a:r>
            <a:r>
              <a:rPr lang="en-US" b="true" sz="2400" spc="76">
                <a:solidFill>
                  <a:srgbClr val="4040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2024</a:t>
            </a:r>
            <a:r>
              <a:rPr lang="en-US" sz="2400" spc="76">
                <a:solidFill>
                  <a:srgbClr val="404040"/>
                </a:solidFill>
                <a:latin typeface="Canva Sans"/>
                <a:ea typeface="Canva Sans"/>
                <a:cs typeface="Canva Sans"/>
                <a:sym typeface="Canva Sans"/>
              </a:rPr>
              <a:t>, más de 3,000 familias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76">
                <a:solidFill>
                  <a:srgbClr val="404040"/>
                </a:solidFill>
                <a:latin typeface="Canva Sans"/>
                <a:ea typeface="Canva Sans"/>
                <a:cs typeface="Canva Sans"/>
                <a:sym typeface="Canva Sans"/>
              </a:rPr>
              <a:t> fueron beneficiadas</a:t>
            </a:r>
          </a:p>
        </p:txBody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0" y="0"/>
            <a:ext cx="1594213" cy="573592"/>
            <a:chOff x="0" y="0"/>
            <a:chExt cx="2495550" cy="89789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8842" r="0" b="-8842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730538" y="-312233"/>
            <a:ext cx="2557462" cy="885825"/>
            <a:chOff x="0" y="0"/>
            <a:chExt cx="3409950" cy="118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3080" r="0" b="-125629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427440" y="-443870"/>
            <a:ext cx="11174740" cy="11174740"/>
            <a:chOff x="0" y="0"/>
            <a:chExt cx="12700000" cy="1270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878580" y="-25400"/>
              <a:ext cx="8831580" cy="12733019"/>
            </a:xfrm>
            <a:custGeom>
              <a:avLst/>
              <a:gdLst/>
              <a:ahLst/>
              <a:cxnLst/>
              <a:rect r="r" b="b" t="t" l="l"/>
              <a:pathLst>
                <a:path h="12733019" w="8831580">
                  <a:moveTo>
                    <a:pt x="8831580" y="2540"/>
                  </a:moveTo>
                  <a:cubicBezTo>
                    <a:pt x="8831580" y="2540"/>
                    <a:pt x="3810" y="5080"/>
                    <a:pt x="0" y="0"/>
                  </a:cubicBezTo>
                  <a:lnTo>
                    <a:pt x="568959" y="1257300"/>
                  </a:lnTo>
                  <a:lnTo>
                    <a:pt x="1337309" y="2103120"/>
                  </a:lnTo>
                  <a:lnTo>
                    <a:pt x="1522729" y="5595620"/>
                  </a:lnTo>
                  <a:lnTo>
                    <a:pt x="2012950" y="6838950"/>
                  </a:lnTo>
                  <a:lnTo>
                    <a:pt x="2171700" y="7791450"/>
                  </a:lnTo>
                  <a:lnTo>
                    <a:pt x="2701290" y="8426450"/>
                  </a:lnTo>
                  <a:lnTo>
                    <a:pt x="2926080" y="10383520"/>
                  </a:lnTo>
                  <a:lnTo>
                    <a:pt x="3138170" y="10873739"/>
                  </a:lnTo>
                  <a:lnTo>
                    <a:pt x="3721100" y="11534139"/>
                  </a:lnTo>
                  <a:lnTo>
                    <a:pt x="3972560" y="11878309"/>
                  </a:lnTo>
                  <a:lnTo>
                    <a:pt x="4038600" y="12090399"/>
                  </a:lnTo>
                  <a:lnTo>
                    <a:pt x="4263390" y="12461239"/>
                  </a:lnTo>
                  <a:lnTo>
                    <a:pt x="4309110" y="12564109"/>
                  </a:lnTo>
                  <a:lnTo>
                    <a:pt x="4325620" y="12622529"/>
                  </a:lnTo>
                  <a:lnTo>
                    <a:pt x="4345940" y="12733019"/>
                  </a:lnTo>
                  <a:lnTo>
                    <a:pt x="8830309" y="12733019"/>
                  </a:lnTo>
                </a:path>
              </a:pathLst>
            </a:custGeom>
            <a:blipFill>
              <a:blip r:embed="rId3"/>
              <a:stretch>
                <a:fillRect l="-38552" t="0" r="-19436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-2540" y="-25400"/>
              <a:ext cx="8227060" cy="12717780"/>
            </a:xfrm>
            <a:custGeom>
              <a:avLst/>
              <a:gdLst/>
              <a:ahLst/>
              <a:cxnLst/>
              <a:rect r="r" b="b" t="t" l="l"/>
              <a:pathLst>
                <a:path h="12717780" w="8227060">
                  <a:moveTo>
                    <a:pt x="3881120" y="0"/>
                  </a:moveTo>
                  <a:lnTo>
                    <a:pt x="4450080" y="1256030"/>
                  </a:lnTo>
                  <a:lnTo>
                    <a:pt x="5218430" y="2100580"/>
                  </a:lnTo>
                  <a:lnTo>
                    <a:pt x="5403850" y="5589270"/>
                  </a:lnTo>
                  <a:lnTo>
                    <a:pt x="5894070" y="6831330"/>
                  </a:lnTo>
                  <a:lnTo>
                    <a:pt x="6052820" y="7782561"/>
                  </a:lnTo>
                  <a:lnTo>
                    <a:pt x="6582410" y="8417561"/>
                  </a:lnTo>
                  <a:lnTo>
                    <a:pt x="6807200" y="10372091"/>
                  </a:lnTo>
                  <a:lnTo>
                    <a:pt x="7019290" y="10861041"/>
                  </a:lnTo>
                  <a:lnTo>
                    <a:pt x="7602220" y="11521441"/>
                  </a:lnTo>
                  <a:lnTo>
                    <a:pt x="7853680" y="11864341"/>
                  </a:lnTo>
                  <a:lnTo>
                    <a:pt x="7919720" y="12076431"/>
                  </a:lnTo>
                  <a:lnTo>
                    <a:pt x="8144510" y="12446001"/>
                  </a:lnTo>
                  <a:lnTo>
                    <a:pt x="8190230" y="12548870"/>
                  </a:lnTo>
                  <a:lnTo>
                    <a:pt x="8206740" y="12607290"/>
                  </a:lnTo>
                  <a:lnTo>
                    <a:pt x="8227060" y="12717780"/>
                  </a:lnTo>
                  <a:lnTo>
                    <a:pt x="0" y="12717780"/>
                  </a:lnTo>
                  <a:lnTo>
                    <a:pt x="0" y="2540"/>
                  </a:lnTo>
                  <a:cubicBezTo>
                    <a:pt x="0" y="2540"/>
                    <a:pt x="3886200" y="5080"/>
                    <a:pt x="3881120" y="0"/>
                  </a:cubicBezTo>
                  <a:close/>
                </a:path>
              </a:pathLst>
            </a:custGeom>
            <a:blipFill>
              <a:blip r:embed="rId4"/>
              <a:stretch>
                <a:fillRect l="-53957" t="0" r="-155211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357370" y="1120140"/>
              <a:ext cx="3891280" cy="11572240"/>
            </a:xfrm>
            <a:custGeom>
              <a:avLst/>
              <a:gdLst/>
              <a:ahLst/>
              <a:cxnLst/>
              <a:rect r="r" b="b" t="t" l="l"/>
              <a:pathLst>
                <a:path h="11572240" w="3891280">
                  <a:moveTo>
                    <a:pt x="0" y="0"/>
                  </a:moveTo>
                  <a:lnTo>
                    <a:pt x="3891280" y="0"/>
                  </a:lnTo>
                  <a:lnTo>
                    <a:pt x="3891280" y="11572240"/>
                  </a:lnTo>
                  <a:lnTo>
                    <a:pt x="0" y="11572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3" r="0" b="-63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58480" y="2168758"/>
            <a:ext cx="6462855" cy="533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4"/>
              </a:lnSpc>
            </a:pPr>
            <a:r>
              <a:rPr lang="en-US" sz="5028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Cuando</a:t>
            </a:r>
            <a:r>
              <a:rPr lang="en-US" sz="5028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la </a:t>
            </a:r>
            <a:r>
              <a:rPr lang="en-US" sz="5028">
                <a:solidFill>
                  <a:srgbClr val="0092D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postventa falla, los únicos perjudicados son las familias más vulnerables</a:t>
            </a:r>
            <a:r>
              <a:rPr lang="en-US" sz="5028">
                <a:solidFill>
                  <a:srgbClr val="1056B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5028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que esp</a:t>
            </a:r>
            <a:r>
              <a:rPr lang="en-US" sz="5028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</a:t>
            </a:r>
            <a:r>
              <a:rPr lang="en-US" sz="5028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</a:t>
            </a:r>
            <a:r>
              <a:rPr lang="en-US" sz="5028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</a:t>
            </a:r>
            <a:r>
              <a:rPr lang="en-US" sz="5028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 el</a:t>
            </a:r>
            <a:r>
              <a:rPr lang="en-US" sz="5028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s</a:t>
            </a:r>
            <a:r>
              <a:rPr lang="en-US" sz="5028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ueñ</a:t>
            </a:r>
            <a:r>
              <a:rPr lang="en-US" sz="5028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</a:t>
            </a:r>
            <a:r>
              <a:rPr lang="en-US" sz="5028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de su c</a:t>
            </a:r>
            <a:r>
              <a:rPr lang="en-US" sz="5028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as</a:t>
            </a:r>
            <a:r>
              <a:rPr lang="en-US" sz="5028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</a:t>
            </a:r>
            <a:r>
              <a:rPr lang="en-US" sz="5028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.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0" y="0"/>
            <a:ext cx="1594213" cy="573592"/>
            <a:chOff x="0" y="0"/>
            <a:chExt cx="2495550" cy="8978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8842" r="0" b="-8842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980569" y="-312233"/>
            <a:ext cx="2557462" cy="885825"/>
            <a:chOff x="0" y="0"/>
            <a:chExt cx="3409950" cy="118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3080" r="0" b="-125629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04440" y="0"/>
            <a:ext cx="7387915" cy="10733510"/>
          </a:xfrm>
          <a:custGeom>
            <a:avLst/>
            <a:gdLst/>
            <a:ahLst/>
            <a:cxnLst/>
            <a:rect r="r" b="b" t="t" l="l"/>
            <a:pathLst>
              <a:path h="10733510" w="7387915">
                <a:moveTo>
                  <a:pt x="0" y="0"/>
                </a:moveTo>
                <a:lnTo>
                  <a:pt x="7387915" y="0"/>
                </a:lnTo>
                <a:lnTo>
                  <a:pt x="7387915" y="10733510"/>
                </a:lnTo>
                <a:lnTo>
                  <a:pt x="0" y="107335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81" t="0" r="-48876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75000" y="2273718"/>
            <a:ext cx="11327919" cy="491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Nuestra Solución</a:t>
            </a:r>
            <a:r>
              <a:rPr lang="en-US" sz="8100">
                <a:solidFill>
                  <a:srgbClr val="40404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: Una Postventa Habitacional </a:t>
            </a:r>
            <a:r>
              <a:rPr lang="en-US" sz="8100">
                <a:solidFill>
                  <a:srgbClr val="0092D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100% Digital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594213" cy="573592"/>
            <a:chOff x="0" y="0"/>
            <a:chExt cx="2495550" cy="8978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842" r="0" b="-8842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106203"/>
            <a:ext cx="1871662" cy="673418"/>
            <a:chOff x="0" y="0"/>
            <a:chExt cx="2495550" cy="897890"/>
          </a:xfrm>
        </p:grpSpPr>
        <p:sp>
          <p:nvSpPr>
            <p:cNvPr name="Freeform 3" id="3" descr="donar - TECHO Chile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7878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5730538" y="0"/>
            <a:ext cx="2557462" cy="885825"/>
            <a:chOff x="0" y="0"/>
            <a:chExt cx="3409950" cy="1181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3080" r="0" b="-125629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2611331" y="2328719"/>
            <a:ext cx="4933250" cy="3595106"/>
          </a:xfrm>
          <a:custGeom>
            <a:avLst/>
            <a:gdLst/>
            <a:ahLst/>
            <a:cxnLst/>
            <a:rect r="r" b="b" t="t" l="l"/>
            <a:pathLst>
              <a:path h="3595106" w="4933250">
                <a:moveTo>
                  <a:pt x="0" y="0"/>
                </a:moveTo>
                <a:lnTo>
                  <a:pt x="4933250" y="0"/>
                </a:lnTo>
                <a:lnTo>
                  <a:pt x="4933250" y="3595106"/>
                </a:lnTo>
                <a:lnTo>
                  <a:pt x="0" y="3595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0" y="106204"/>
            <a:ext cx="1871662" cy="673418"/>
            <a:chOff x="0" y="0"/>
            <a:chExt cx="2495550" cy="8978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8842" r="0" b="-8842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7369054" y="2328719"/>
            <a:ext cx="3246028" cy="3595106"/>
          </a:xfrm>
          <a:custGeom>
            <a:avLst/>
            <a:gdLst/>
            <a:ahLst/>
            <a:cxnLst/>
            <a:rect r="r" b="b" t="t" l="l"/>
            <a:pathLst>
              <a:path h="3595106" w="3246028">
                <a:moveTo>
                  <a:pt x="0" y="0"/>
                </a:moveTo>
                <a:lnTo>
                  <a:pt x="3246027" y="0"/>
                </a:lnTo>
                <a:lnTo>
                  <a:pt x="3246027" y="3595106"/>
                </a:lnTo>
                <a:lnTo>
                  <a:pt x="0" y="35951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66462" y="2328719"/>
            <a:ext cx="3595106" cy="3595106"/>
          </a:xfrm>
          <a:custGeom>
            <a:avLst/>
            <a:gdLst/>
            <a:ahLst/>
            <a:cxnLst/>
            <a:rect r="r" b="b" t="t" l="l"/>
            <a:pathLst>
              <a:path h="3595106" w="3595106">
                <a:moveTo>
                  <a:pt x="0" y="0"/>
                </a:moveTo>
                <a:lnTo>
                  <a:pt x="3595106" y="0"/>
                </a:lnTo>
                <a:lnTo>
                  <a:pt x="3595106" y="3595106"/>
                </a:lnTo>
                <a:lnTo>
                  <a:pt x="0" y="35951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48086" y="6502759"/>
            <a:ext cx="4631858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423249"/>
                </a:solidFill>
                <a:latin typeface="Montserrat"/>
                <a:ea typeface="Montserrat"/>
                <a:cs typeface="Montserrat"/>
                <a:sym typeface="Montserrat"/>
              </a:rPr>
              <a:t>Trazabilidad y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4200">
                <a:solidFill>
                  <a:srgbClr val="423249"/>
                </a:solidFill>
                <a:latin typeface="Montserrat"/>
                <a:ea typeface="Montserrat"/>
                <a:cs typeface="Montserrat"/>
                <a:sym typeface="Montserrat"/>
              </a:rPr>
              <a:t>documentación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28071" y="6502759"/>
            <a:ext cx="4631858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Eficiencia 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42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Operativa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62027" y="6502759"/>
            <a:ext cx="463185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42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Confiabilidad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106203"/>
            <a:ext cx="1871662" cy="673418"/>
            <a:chOff x="0" y="0"/>
            <a:chExt cx="2495550" cy="897890"/>
          </a:xfrm>
        </p:grpSpPr>
        <p:sp>
          <p:nvSpPr>
            <p:cNvPr name="Freeform 3" id="3" descr="donar - TECHO Chile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7878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5730538" y="0"/>
            <a:ext cx="2557462" cy="885825"/>
            <a:chOff x="0" y="0"/>
            <a:chExt cx="3409950" cy="1181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3080" r="0" b="-125629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106204"/>
            <a:ext cx="1871662" cy="673418"/>
            <a:chOff x="0" y="0"/>
            <a:chExt cx="2495550" cy="8978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842" r="0" b="-8842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2932073" y="779621"/>
            <a:ext cx="12423854" cy="9649595"/>
            <a:chOff x="0" y="0"/>
            <a:chExt cx="13081000" cy="1016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80060" y="1689100"/>
              <a:ext cx="12105640" cy="5897880"/>
            </a:xfrm>
            <a:custGeom>
              <a:avLst/>
              <a:gdLst/>
              <a:ahLst/>
              <a:cxnLst/>
              <a:rect r="r" b="b" t="t" l="l"/>
              <a:pathLst>
                <a:path h="5897880" w="12105640">
                  <a:moveTo>
                    <a:pt x="0" y="0"/>
                  </a:moveTo>
                  <a:lnTo>
                    <a:pt x="12105640" y="0"/>
                  </a:lnTo>
                  <a:lnTo>
                    <a:pt x="12105640" y="5897880"/>
                  </a:lnTo>
                  <a:lnTo>
                    <a:pt x="0" y="5897880"/>
                  </a:lnTo>
                  <a:close/>
                </a:path>
              </a:pathLst>
            </a:custGeom>
            <a:blipFill>
              <a:blip r:embed="rId5"/>
              <a:stretch>
                <a:fillRect l="-4024" t="0" r="-4024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81000" cy="10160000"/>
            </a:xfrm>
            <a:custGeom>
              <a:avLst/>
              <a:gdLst/>
              <a:ahLst/>
              <a:cxnLst/>
              <a:rect r="r" b="b" t="t" l="l"/>
              <a:pathLst>
                <a:path h="10160000" w="13081000">
                  <a:moveTo>
                    <a:pt x="0" y="0"/>
                  </a:moveTo>
                  <a:lnTo>
                    <a:pt x="13081000" y="0"/>
                  </a:lnTo>
                  <a:lnTo>
                    <a:pt x="13081000" y="10160000"/>
                  </a:lnTo>
                  <a:lnTo>
                    <a:pt x="0" y="10160000"/>
                  </a:lnTo>
                  <a:close/>
                </a:path>
              </a:pathLst>
            </a:custGeom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106203"/>
            <a:ext cx="1871662" cy="673418"/>
            <a:chOff x="0" y="0"/>
            <a:chExt cx="2495550" cy="897890"/>
          </a:xfrm>
        </p:grpSpPr>
        <p:sp>
          <p:nvSpPr>
            <p:cNvPr name="Freeform 3" id="3" descr="donar - TECHO Chile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7878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5730538" y="0"/>
            <a:ext cx="2557462" cy="885825"/>
            <a:chOff x="0" y="0"/>
            <a:chExt cx="3409950" cy="1181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3080" r="0" b="-125629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106204"/>
            <a:ext cx="1871662" cy="673418"/>
            <a:chOff x="0" y="0"/>
            <a:chExt cx="2495550" cy="8978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842" r="0" b="-8842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2932073" y="779621"/>
            <a:ext cx="12423854" cy="9649595"/>
            <a:chOff x="0" y="0"/>
            <a:chExt cx="13081000" cy="1016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80060" y="1689100"/>
              <a:ext cx="12105640" cy="5897880"/>
            </a:xfrm>
            <a:custGeom>
              <a:avLst/>
              <a:gdLst/>
              <a:ahLst/>
              <a:cxnLst/>
              <a:rect r="r" b="b" t="t" l="l"/>
              <a:pathLst>
                <a:path h="5897880" w="12105640">
                  <a:moveTo>
                    <a:pt x="0" y="0"/>
                  </a:moveTo>
                  <a:lnTo>
                    <a:pt x="12105640" y="0"/>
                  </a:lnTo>
                  <a:lnTo>
                    <a:pt x="12105640" y="5897880"/>
                  </a:lnTo>
                  <a:lnTo>
                    <a:pt x="0" y="5897880"/>
                  </a:lnTo>
                  <a:close/>
                </a:path>
              </a:pathLst>
            </a:custGeom>
            <a:blipFill>
              <a:blip r:embed="rId5"/>
              <a:stretch>
                <a:fillRect l="-368" t="0" r="-368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81000" cy="10160000"/>
            </a:xfrm>
            <a:custGeom>
              <a:avLst/>
              <a:gdLst/>
              <a:ahLst/>
              <a:cxnLst/>
              <a:rect r="r" b="b" t="t" l="l"/>
              <a:pathLst>
                <a:path h="10160000" w="13081000">
                  <a:moveTo>
                    <a:pt x="0" y="0"/>
                  </a:moveTo>
                  <a:lnTo>
                    <a:pt x="13081000" y="0"/>
                  </a:lnTo>
                  <a:lnTo>
                    <a:pt x="13081000" y="10160000"/>
                  </a:lnTo>
                  <a:lnTo>
                    <a:pt x="0" y="10160000"/>
                  </a:lnTo>
                  <a:close/>
                </a:path>
              </a:pathLst>
            </a:custGeom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980569" y="-330248"/>
            <a:ext cx="2557462" cy="885825"/>
            <a:chOff x="0" y="0"/>
            <a:chExt cx="3409950" cy="118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3080" r="0" b="-125629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2932073" y="779620"/>
            <a:ext cx="12423854" cy="9649595"/>
            <a:chOff x="0" y="0"/>
            <a:chExt cx="13081000" cy="1016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80060" y="1689100"/>
              <a:ext cx="12105640" cy="5897880"/>
            </a:xfrm>
            <a:custGeom>
              <a:avLst/>
              <a:gdLst/>
              <a:ahLst/>
              <a:cxnLst/>
              <a:rect r="r" b="b" t="t" l="l"/>
              <a:pathLst>
                <a:path h="5897880" w="12105640">
                  <a:moveTo>
                    <a:pt x="0" y="0"/>
                  </a:moveTo>
                  <a:lnTo>
                    <a:pt x="12105640" y="0"/>
                  </a:lnTo>
                  <a:lnTo>
                    <a:pt x="12105640" y="5897880"/>
                  </a:lnTo>
                  <a:lnTo>
                    <a:pt x="0" y="5897880"/>
                  </a:lnTo>
                  <a:close/>
                </a:path>
              </a:pathLst>
            </a:custGeom>
            <a:blipFill>
              <a:blip r:embed="rId3"/>
              <a:stretch>
                <a:fillRect l="0" t="-7727" r="0" b="-7727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081000" cy="10160000"/>
            </a:xfrm>
            <a:custGeom>
              <a:avLst/>
              <a:gdLst/>
              <a:ahLst/>
              <a:cxnLst/>
              <a:rect r="r" b="b" t="t" l="l"/>
              <a:pathLst>
                <a:path h="10160000" w="13081000">
                  <a:moveTo>
                    <a:pt x="0" y="0"/>
                  </a:moveTo>
                  <a:lnTo>
                    <a:pt x="13081000" y="0"/>
                  </a:lnTo>
                  <a:lnTo>
                    <a:pt x="13081000" y="10160000"/>
                  </a:lnTo>
                  <a:lnTo>
                    <a:pt x="0" y="10160000"/>
                  </a:lnTo>
                  <a:close/>
                </a:path>
              </a:pathLst>
            </a:custGeom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0" y="-18016"/>
            <a:ext cx="1594213" cy="573592"/>
            <a:chOff x="0" y="0"/>
            <a:chExt cx="2495550" cy="8978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842" r="0" b="-8842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872073" y="-312233"/>
            <a:ext cx="2557462" cy="885825"/>
            <a:chOff x="0" y="0"/>
            <a:chExt cx="3409950" cy="118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3080" r="0" b="-1256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037557" y="750223"/>
            <a:ext cx="8212887" cy="1255697"/>
            <a:chOff x="0" y="0"/>
            <a:chExt cx="2163065" cy="330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63065" cy="330719"/>
            </a:xfrm>
            <a:custGeom>
              <a:avLst/>
              <a:gdLst/>
              <a:ahLst/>
              <a:cxnLst/>
              <a:rect r="r" b="b" t="t" l="l"/>
              <a:pathLst>
                <a:path h="330719" w="2163065">
                  <a:moveTo>
                    <a:pt x="1959865" y="0"/>
                  </a:moveTo>
                  <a:cubicBezTo>
                    <a:pt x="2072089" y="0"/>
                    <a:pt x="2163065" y="74034"/>
                    <a:pt x="2163065" y="165359"/>
                  </a:cubicBezTo>
                  <a:cubicBezTo>
                    <a:pt x="2163065" y="256685"/>
                    <a:pt x="2072089" y="330719"/>
                    <a:pt x="1959865" y="330719"/>
                  </a:cubicBezTo>
                  <a:lnTo>
                    <a:pt x="203200" y="330719"/>
                  </a:lnTo>
                  <a:cubicBezTo>
                    <a:pt x="90976" y="330719"/>
                    <a:pt x="0" y="256685"/>
                    <a:pt x="0" y="165359"/>
                  </a:cubicBezTo>
                  <a:cubicBezTo>
                    <a:pt x="0" y="7403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92D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63065" cy="368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028700" y="3490825"/>
            <a:ext cx="4116809" cy="3305349"/>
            <a:chOff x="0" y="0"/>
            <a:chExt cx="7467600" cy="59956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3"/>
              <a:stretch>
                <a:fillRect l="-5896" t="0" r="-5896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7559498" y="3490825"/>
            <a:ext cx="3169004" cy="3305349"/>
          </a:xfrm>
          <a:custGeom>
            <a:avLst/>
            <a:gdLst/>
            <a:ahLst/>
            <a:cxnLst/>
            <a:rect r="r" b="b" t="t" l="l"/>
            <a:pathLst>
              <a:path h="3305349" w="3169004">
                <a:moveTo>
                  <a:pt x="0" y="0"/>
                </a:moveTo>
                <a:lnTo>
                  <a:pt x="3169004" y="0"/>
                </a:lnTo>
                <a:lnTo>
                  <a:pt x="3169004" y="3305350"/>
                </a:lnTo>
                <a:lnTo>
                  <a:pt x="0" y="3305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583452" y="3903783"/>
            <a:ext cx="3425817" cy="2479435"/>
          </a:xfrm>
          <a:custGeom>
            <a:avLst/>
            <a:gdLst/>
            <a:ahLst/>
            <a:cxnLst/>
            <a:rect r="r" b="b" t="t" l="l"/>
            <a:pathLst>
              <a:path h="2479435" w="3425817">
                <a:moveTo>
                  <a:pt x="0" y="0"/>
                </a:moveTo>
                <a:lnTo>
                  <a:pt x="3425817" y="0"/>
                </a:lnTo>
                <a:lnTo>
                  <a:pt x="3425817" y="2479434"/>
                </a:lnTo>
                <a:lnTo>
                  <a:pt x="0" y="24794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141041" y="912842"/>
            <a:ext cx="597596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 spc="13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Arquitectura Lógica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5441" y="7436053"/>
            <a:ext cx="4003328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Pantallas web que 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usan TECHO y las familias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22690" y="7436053"/>
            <a:ext cx="524262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400" spc="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quí viven las reglas, 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validaciones y flujos de los casos.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46125" y="7436053"/>
            <a:ext cx="4213175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base de datos con familias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viviendas, casos y usuarios</a:t>
            </a:r>
          </a:p>
        </p:txBody>
      </p:sp>
      <p:sp>
        <p:nvSpPr>
          <p:cNvPr name="AutoShape 18" id="18"/>
          <p:cNvSpPr/>
          <p:nvPr/>
        </p:nvSpPr>
        <p:spPr>
          <a:xfrm>
            <a:off x="5597111" y="5143500"/>
            <a:ext cx="1501557" cy="0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9" id="19"/>
          <p:cNvSpPr/>
          <p:nvPr/>
        </p:nvSpPr>
        <p:spPr>
          <a:xfrm>
            <a:off x="11405199" y="5191125"/>
            <a:ext cx="1501557" cy="0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0" y="0"/>
            <a:ext cx="1594213" cy="573592"/>
            <a:chOff x="0" y="0"/>
            <a:chExt cx="2495550" cy="8978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8842" r="0" b="-8842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980569" y="-312233"/>
            <a:ext cx="2557462" cy="885825"/>
            <a:chOff x="0" y="0"/>
            <a:chExt cx="3409950" cy="118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3080" r="0" b="-1256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037557" y="442912"/>
            <a:ext cx="8212887" cy="1255697"/>
            <a:chOff x="0" y="0"/>
            <a:chExt cx="2163065" cy="330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63065" cy="330719"/>
            </a:xfrm>
            <a:custGeom>
              <a:avLst/>
              <a:gdLst/>
              <a:ahLst/>
              <a:cxnLst/>
              <a:rect r="r" b="b" t="t" l="l"/>
              <a:pathLst>
                <a:path h="330719" w="2163065">
                  <a:moveTo>
                    <a:pt x="1959865" y="0"/>
                  </a:moveTo>
                  <a:cubicBezTo>
                    <a:pt x="2072089" y="0"/>
                    <a:pt x="2163065" y="74034"/>
                    <a:pt x="2163065" y="165359"/>
                  </a:cubicBezTo>
                  <a:cubicBezTo>
                    <a:pt x="2163065" y="256685"/>
                    <a:pt x="2072089" y="330719"/>
                    <a:pt x="1959865" y="330719"/>
                  </a:cubicBezTo>
                  <a:lnTo>
                    <a:pt x="203200" y="330719"/>
                  </a:lnTo>
                  <a:cubicBezTo>
                    <a:pt x="90976" y="330719"/>
                    <a:pt x="0" y="256685"/>
                    <a:pt x="0" y="165359"/>
                  </a:cubicBezTo>
                  <a:cubicBezTo>
                    <a:pt x="0" y="7403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92D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163065" cy="4069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b="true" sz="4200" spc="134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Arquitectura Física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460966" y="3989298"/>
            <a:ext cx="2077564" cy="2308405"/>
          </a:xfrm>
          <a:custGeom>
            <a:avLst/>
            <a:gdLst/>
            <a:ahLst/>
            <a:cxnLst/>
            <a:rect r="r" b="b" t="t" l="l"/>
            <a:pathLst>
              <a:path h="2308405" w="2077564">
                <a:moveTo>
                  <a:pt x="0" y="0"/>
                </a:moveTo>
                <a:lnTo>
                  <a:pt x="2077564" y="0"/>
                </a:lnTo>
                <a:lnTo>
                  <a:pt x="2077564" y="2308404"/>
                </a:lnTo>
                <a:lnTo>
                  <a:pt x="0" y="23084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171790" y="3910762"/>
            <a:ext cx="2465476" cy="2465476"/>
          </a:xfrm>
          <a:custGeom>
            <a:avLst/>
            <a:gdLst/>
            <a:ahLst/>
            <a:cxnLst/>
            <a:rect r="r" b="b" t="t" l="l"/>
            <a:pathLst>
              <a:path h="2465476" w="2465476">
                <a:moveTo>
                  <a:pt x="0" y="0"/>
                </a:moveTo>
                <a:lnTo>
                  <a:pt x="2465476" y="0"/>
                </a:lnTo>
                <a:lnTo>
                  <a:pt x="2465476" y="2465476"/>
                </a:lnTo>
                <a:lnTo>
                  <a:pt x="0" y="24654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270526" y="3918289"/>
            <a:ext cx="2049315" cy="2457949"/>
          </a:xfrm>
          <a:custGeom>
            <a:avLst/>
            <a:gdLst/>
            <a:ahLst/>
            <a:cxnLst/>
            <a:rect r="r" b="b" t="t" l="l"/>
            <a:pathLst>
              <a:path h="2457949" w="2049315">
                <a:moveTo>
                  <a:pt x="0" y="0"/>
                </a:moveTo>
                <a:lnTo>
                  <a:pt x="2049315" y="0"/>
                </a:lnTo>
                <a:lnTo>
                  <a:pt x="2049315" y="2457949"/>
                </a:lnTo>
                <a:lnTo>
                  <a:pt x="0" y="24579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214529" y="4436597"/>
            <a:ext cx="62554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spc="1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6599" y="6822147"/>
            <a:ext cx="4466299" cy="860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4"/>
              </a:lnSpc>
            </a:pPr>
            <a:r>
              <a:rPr lang="en-US" sz="24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Usua</a:t>
            </a:r>
            <a:r>
              <a:rPr lang="en-US" sz="24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rios TECHO se</a:t>
            </a:r>
          </a:p>
          <a:p>
            <a:pPr algn="ctr">
              <a:lnSpc>
                <a:spcPts val="3474"/>
              </a:lnSpc>
            </a:pPr>
            <a:r>
              <a:rPr lang="en-US" sz="24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conectan desde su navegador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29940" y="6822147"/>
            <a:ext cx="5349176" cy="860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4"/>
              </a:lnSpc>
            </a:pPr>
            <a:r>
              <a:rPr lang="en-US" sz="24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Allí corre la plataf</a:t>
            </a:r>
            <a:r>
              <a:rPr lang="en-US" sz="24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orma</a:t>
            </a:r>
          </a:p>
          <a:p>
            <a:pPr algn="ctr">
              <a:lnSpc>
                <a:spcPts val="3474"/>
              </a:lnSpc>
            </a:pPr>
            <a:r>
              <a:rPr lang="en-US" sz="24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Web y se conecta a la base de datos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32152" y="6822147"/>
            <a:ext cx="3452479" cy="860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4"/>
              </a:lnSpc>
            </a:pPr>
            <a:r>
              <a:rPr lang="en-US" sz="24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Guarda familias, casos, </a:t>
            </a:r>
          </a:p>
          <a:p>
            <a:pPr algn="ctr">
              <a:lnSpc>
                <a:spcPts val="3474"/>
              </a:lnSpc>
            </a:pPr>
            <a:r>
              <a:rPr lang="en-US" sz="24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usuarios, etc...</a:t>
            </a:r>
          </a:p>
        </p:txBody>
      </p:sp>
      <p:sp>
        <p:nvSpPr>
          <p:cNvPr name="AutoShape 14" id="14"/>
          <p:cNvSpPr/>
          <p:nvPr/>
        </p:nvSpPr>
        <p:spPr>
          <a:xfrm>
            <a:off x="5036272" y="5191125"/>
            <a:ext cx="2356512" cy="3764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5" id="15"/>
          <p:cNvSpPr/>
          <p:nvPr/>
        </p:nvSpPr>
        <p:spPr>
          <a:xfrm>
            <a:off x="11275640" y="5194889"/>
            <a:ext cx="2356512" cy="3764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0" y="0"/>
            <a:ext cx="1594213" cy="573592"/>
            <a:chOff x="0" y="0"/>
            <a:chExt cx="2495550" cy="8978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8842" r="0" b="-8842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854241" y="-312233"/>
            <a:ext cx="2557462" cy="885825"/>
            <a:chOff x="0" y="0"/>
            <a:chExt cx="3409950" cy="118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3080" r="0" b="-125629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095187" y="8680991"/>
            <a:ext cx="2676192" cy="914373"/>
          </a:xfrm>
          <a:custGeom>
            <a:avLst/>
            <a:gdLst/>
            <a:ahLst/>
            <a:cxnLst/>
            <a:rect r="r" b="b" t="t" l="l"/>
            <a:pathLst>
              <a:path h="914373" w="2676192">
                <a:moveTo>
                  <a:pt x="0" y="0"/>
                </a:moveTo>
                <a:lnTo>
                  <a:pt x="2676191" y="0"/>
                </a:lnTo>
                <a:lnTo>
                  <a:pt x="2676191" y="914373"/>
                </a:lnTo>
                <a:lnTo>
                  <a:pt x="0" y="914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67" r="0" b="-56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647847" y="8328681"/>
            <a:ext cx="1958319" cy="1958319"/>
          </a:xfrm>
          <a:custGeom>
            <a:avLst/>
            <a:gdLst/>
            <a:ahLst/>
            <a:cxnLst/>
            <a:rect r="r" b="b" t="t" l="l"/>
            <a:pathLst>
              <a:path h="1958319" w="1958319">
                <a:moveTo>
                  <a:pt x="0" y="0"/>
                </a:moveTo>
                <a:lnTo>
                  <a:pt x="1958318" y="0"/>
                </a:lnTo>
                <a:lnTo>
                  <a:pt x="1958318" y="1958319"/>
                </a:lnTo>
                <a:lnTo>
                  <a:pt x="0" y="19583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0313" y="2839292"/>
            <a:ext cx="3434964" cy="3434964"/>
          </a:xfrm>
          <a:custGeom>
            <a:avLst/>
            <a:gdLst/>
            <a:ahLst/>
            <a:cxnLst/>
            <a:rect r="r" b="b" t="t" l="l"/>
            <a:pathLst>
              <a:path h="3434964" w="3434964">
                <a:moveTo>
                  <a:pt x="0" y="0"/>
                </a:moveTo>
                <a:lnTo>
                  <a:pt x="3434964" y="0"/>
                </a:lnTo>
                <a:lnTo>
                  <a:pt x="3434964" y="3434964"/>
                </a:lnTo>
                <a:lnTo>
                  <a:pt x="0" y="34349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633465" y="3302927"/>
            <a:ext cx="3499508" cy="2229224"/>
          </a:xfrm>
          <a:custGeom>
            <a:avLst/>
            <a:gdLst/>
            <a:ahLst/>
            <a:cxnLst/>
            <a:rect r="r" b="b" t="t" l="l"/>
            <a:pathLst>
              <a:path h="2229224" w="3499508">
                <a:moveTo>
                  <a:pt x="0" y="0"/>
                </a:moveTo>
                <a:lnTo>
                  <a:pt x="3499507" y="0"/>
                </a:lnTo>
                <a:lnTo>
                  <a:pt x="3499507" y="2229224"/>
                </a:lnTo>
                <a:lnTo>
                  <a:pt x="0" y="22292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052533" y="471747"/>
            <a:ext cx="8212887" cy="1255697"/>
            <a:chOff x="0" y="0"/>
            <a:chExt cx="2163065" cy="3307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63065" cy="330719"/>
            </a:xfrm>
            <a:custGeom>
              <a:avLst/>
              <a:gdLst/>
              <a:ahLst/>
              <a:cxnLst/>
              <a:rect r="r" b="b" t="t" l="l"/>
              <a:pathLst>
                <a:path h="330719" w="2163065">
                  <a:moveTo>
                    <a:pt x="1959865" y="0"/>
                  </a:moveTo>
                  <a:cubicBezTo>
                    <a:pt x="2072089" y="0"/>
                    <a:pt x="2163065" y="74034"/>
                    <a:pt x="2163065" y="165359"/>
                  </a:cubicBezTo>
                  <a:cubicBezTo>
                    <a:pt x="2163065" y="256685"/>
                    <a:pt x="2072089" y="330719"/>
                    <a:pt x="1959865" y="330719"/>
                  </a:cubicBezTo>
                  <a:lnTo>
                    <a:pt x="203200" y="330719"/>
                  </a:lnTo>
                  <a:cubicBezTo>
                    <a:pt x="90976" y="330719"/>
                    <a:pt x="0" y="256685"/>
                    <a:pt x="0" y="165359"/>
                  </a:cubicBezTo>
                  <a:cubicBezTo>
                    <a:pt x="0" y="7403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92D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63065" cy="368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34242" y="2370496"/>
            <a:ext cx="5449469" cy="833188"/>
            <a:chOff x="0" y="0"/>
            <a:chExt cx="2163065" cy="3307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63065" cy="330719"/>
            </a:xfrm>
            <a:custGeom>
              <a:avLst/>
              <a:gdLst/>
              <a:ahLst/>
              <a:cxnLst/>
              <a:rect r="r" b="b" t="t" l="l"/>
              <a:pathLst>
                <a:path h="330719" w="2163065">
                  <a:moveTo>
                    <a:pt x="1959865" y="0"/>
                  </a:moveTo>
                  <a:cubicBezTo>
                    <a:pt x="2072089" y="0"/>
                    <a:pt x="2163065" y="74034"/>
                    <a:pt x="2163065" y="165359"/>
                  </a:cubicBezTo>
                  <a:cubicBezTo>
                    <a:pt x="2163065" y="256685"/>
                    <a:pt x="2072089" y="330719"/>
                    <a:pt x="1959865" y="330719"/>
                  </a:cubicBezTo>
                  <a:lnTo>
                    <a:pt x="203200" y="330719"/>
                  </a:lnTo>
                  <a:cubicBezTo>
                    <a:pt x="90976" y="330719"/>
                    <a:pt x="0" y="256685"/>
                    <a:pt x="0" y="165359"/>
                  </a:cubicBezTo>
                  <a:cubicBezTo>
                    <a:pt x="0" y="7403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92D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63065" cy="368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08548" y="7514428"/>
            <a:ext cx="5449469" cy="833188"/>
            <a:chOff x="0" y="0"/>
            <a:chExt cx="2163065" cy="3307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63065" cy="330719"/>
            </a:xfrm>
            <a:custGeom>
              <a:avLst/>
              <a:gdLst/>
              <a:ahLst/>
              <a:cxnLst/>
              <a:rect r="r" b="b" t="t" l="l"/>
              <a:pathLst>
                <a:path h="330719" w="2163065">
                  <a:moveTo>
                    <a:pt x="1959865" y="0"/>
                  </a:moveTo>
                  <a:cubicBezTo>
                    <a:pt x="2072089" y="0"/>
                    <a:pt x="2163065" y="74034"/>
                    <a:pt x="2163065" y="165359"/>
                  </a:cubicBezTo>
                  <a:cubicBezTo>
                    <a:pt x="2163065" y="256685"/>
                    <a:pt x="2072089" y="330719"/>
                    <a:pt x="1959865" y="330719"/>
                  </a:cubicBezTo>
                  <a:lnTo>
                    <a:pt x="203200" y="330719"/>
                  </a:lnTo>
                  <a:cubicBezTo>
                    <a:pt x="90976" y="330719"/>
                    <a:pt x="0" y="256685"/>
                    <a:pt x="0" y="165359"/>
                  </a:cubicBezTo>
                  <a:cubicBezTo>
                    <a:pt x="0" y="7403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92D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63065" cy="368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02998" y="2469738"/>
            <a:ext cx="5449469" cy="833188"/>
            <a:chOff x="0" y="0"/>
            <a:chExt cx="2163065" cy="3307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63065" cy="330719"/>
            </a:xfrm>
            <a:custGeom>
              <a:avLst/>
              <a:gdLst/>
              <a:ahLst/>
              <a:cxnLst/>
              <a:rect r="r" b="b" t="t" l="l"/>
              <a:pathLst>
                <a:path h="330719" w="2163065">
                  <a:moveTo>
                    <a:pt x="1959865" y="0"/>
                  </a:moveTo>
                  <a:cubicBezTo>
                    <a:pt x="2072089" y="0"/>
                    <a:pt x="2163065" y="74034"/>
                    <a:pt x="2163065" y="165359"/>
                  </a:cubicBezTo>
                  <a:cubicBezTo>
                    <a:pt x="2163065" y="256685"/>
                    <a:pt x="2072089" y="330719"/>
                    <a:pt x="1959865" y="330719"/>
                  </a:cubicBezTo>
                  <a:lnTo>
                    <a:pt x="203200" y="330719"/>
                  </a:lnTo>
                  <a:cubicBezTo>
                    <a:pt x="90976" y="330719"/>
                    <a:pt x="0" y="256685"/>
                    <a:pt x="0" y="165359"/>
                  </a:cubicBezTo>
                  <a:cubicBezTo>
                    <a:pt x="0" y="7403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92D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63065" cy="368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797990" y="7352618"/>
            <a:ext cx="5449469" cy="833188"/>
            <a:chOff x="0" y="0"/>
            <a:chExt cx="2163065" cy="3307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63065" cy="330719"/>
            </a:xfrm>
            <a:custGeom>
              <a:avLst/>
              <a:gdLst/>
              <a:ahLst/>
              <a:cxnLst/>
              <a:rect r="r" b="b" t="t" l="l"/>
              <a:pathLst>
                <a:path h="330719" w="2163065">
                  <a:moveTo>
                    <a:pt x="1959865" y="0"/>
                  </a:moveTo>
                  <a:cubicBezTo>
                    <a:pt x="2072089" y="0"/>
                    <a:pt x="2163065" y="74034"/>
                    <a:pt x="2163065" y="165359"/>
                  </a:cubicBezTo>
                  <a:cubicBezTo>
                    <a:pt x="2163065" y="256685"/>
                    <a:pt x="2072089" y="330719"/>
                    <a:pt x="1959865" y="330719"/>
                  </a:cubicBezTo>
                  <a:lnTo>
                    <a:pt x="203200" y="330719"/>
                  </a:lnTo>
                  <a:cubicBezTo>
                    <a:pt x="90976" y="330719"/>
                    <a:pt x="0" y="256685"/>
                    <a:pt x="0" y="165359"/>
                  </a:cubicBezTo>
                  <a:cubicBezTo>
                    <a:pt x="0" y="7403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92D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63065" cy="368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677534" y="2323455"/>
            <a:ext cx="5449469" cy="833188"/>
            <a:chOff x="0" y="0"/>
            <a:chExt cx="2163065" cy="3307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63065" cy="330719"/>
            </a:xfrm>
            <a:custGeom>
              <a:avLst/>
              <a:gdLst/>
              <a:ahLst/>
              <a:cxnLst/>
              <a:rect r="r" b="b" t="t" l="l"/>
              <a:pathLst>
                <a:path h="330719" w="2163065">
                  <a:moveTo>
                    <a:pt x="1959865" y="0"/>
                  </a:moveTo>
                  <a:cubicBezTo>
                    <a:pt x="2072089" y="0"/>
                    <a:pt x="2163065" y="74034"/>
                    <a:pt x="2163065" y="165359"/>
                  </a:cubicBezTo>
                  <a:cubicBezTo>
                    <a:pt x="2163065" y="256685"/>
                    <a:pt x="2072089" y="330719"/>
                    <a:pt x="1959865" y="330719"/>
                  </a:cubicBezTo>
                  <a:lnTo>
                    <a:pt x="203200" y="330719"/>
                  </a:lnTo>
                  <a:cubicBezTo>
                    <a:pt x="90976" y="330719"/>
                    <a:pt x="0" y="256685"/>
                    <a:pt x="0" y="165359"/>
                  </a:cubicBezTo>
                  <a:cubicBezTo>
                    <a:pt x="0" y="7403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92D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163065" cy="368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 flipH="true">
            <a:off x="5293195" y="4431222"/>
            <a:ext cx="16315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7" id="27"/>
          <p:cNvSpPr/>
          <p:nvPr/>
        </p:nvSpPr>
        <p:spPr>
          <a:xfrm>
            <a:off x="6434242" y="9138178"/>
            <a:ext cx="683117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8" id="28"/>
          <p:cNvSpPr/>
          <p:nvPr/>
        </p:nvSpPr>
        <p:spPr>
          <a:xfrm>
            <a:off x="15383218" y="5904703"/>
            <a:ext cx="19050" cy="88355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7710311" y="3541393"/>
            <a:ext cx="3383176" cy="3383176"/>
          </a:xfrm>
          <a:custGeom>
            <a:avLst/>
            <a:gdLst/>
            <a:ahLst/>
            <a:cxnLst/>
            <a:rect r="r" b="b" t="t" l="l"/>
            <a:pathLst>
              <a:path h="3383176" w="3383176">
                <a:moveTo>
                  <a:pt x="0" y="0"/>
                </a:moveTo>
                <a:lnTo>
                  <a:pt x="3383176" y="0"/>
                </a:lnTo>
                <a:lnTo>
                  <a:pt x="3383176" y="3383176"/>
                </a:lnTo>
                <a:lnTo>
                  <a:pt x="0" y="33831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5500088" y="634365"/>
            <a:ext cx="7297902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 spc="13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Arquitectura de Software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873639" y="2471808"/>
            <a:ext cx="4550801" cy="479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1"/>
              </a:lnSpc>
              <a:spcBef>
                <a:spcPct val="0"/>
              </a:spcBef>
            </a:pPr>
            <a:r>
              <a:rPr lang="en-US" b="true" sz="2786" spc="8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FRONTEND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47945" y="7615740"/>
            <a:ext cx="4550801" cy="479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1"/>
              </a:lnSpc>
              <a:spcBef>
                <a:spcPct val="0"/>
              </a:spcBef>
            </a:pPr>
            <a:r>
              <a:rPr lang="en-US" b="true" sz="2786" spc="8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42395" y="2571051"/>
            <a:ext cx="4550801" cy="479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1"/>
              </a:lnSpc>
              <a:spcBef>
                <a:spcPct val="0"/>
              </a:spcBef>
            </a:pPr>
            <a:r>
              <a:rPr lang="en-US" b="true" sz="2786" spc="8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SERVIDOR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237387" y="7453930"/>
            <a:ext cx="4550801" cy="479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1"/>
              </a:lnSpc>
              <a:spcBef>
                <a:spcPct val="0"/>
              </a:spcBef>
            </a:pPr>
            <a:r>
              <a:rPr lang="en-US" b="true" sz="2786" spc="8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BASE DE DATOS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044815" y="2471808"/>
            <a:ext cx="4550801" cy="479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1"/>
              </a:lnSpc>
              <a:spcBef>
                <a:spcPct val="0"/>
              </a:spcBef>
            </a:pPr>
            <a:r>
              <a:rPr lang="en-US" b="true" sz="2786" spc="8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REPORTES PDF</a:t>
            </a:r>
          </a:p>
        </p:txBody>
      </p:sp>
      <p:sp>
        <p:nvSpPr>
          <p:cNvPr name="AutoShape 36" id="36"/>
          <p:cNvSpPr/>
          <p:nvPr/>
        </p:nvSpPr>
        <p:spPr>
          <a:xfrm flipH="true">
            <a:off x="3017795" y="5532151"/>
            <a:ext cx="9937" cy="125610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7" id="37"/>
          <p:cNvSpPr/>
          <p:nvPr/>
        </p:nvSpPr>
        <p:spPr>
          <a:xfrm flipH="true">
            <a:off x="6434242" y="8680991"/>
            <a:ext cx="683117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8" id="38"/>
          <p:cNvSpPr/>
          <p:nvPr/>
        </p:nvSpPr>
        <p:spPr>
          <a:xfrm flipV="true">
            <a:off x="3452333" y="5532151"/>
            <a:ext cx="0" cy="125614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9" id="39"/>
          <p:cNvSpPr txBox="true"/>
          <p:nvPr/>
        </p:nvSpPr>
        <p:spPr>
          <a:xfrm rot="0">
            <a:off x="6300702" y="7219844"/>
            <a:ext cx="6354604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spc="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Arquitectura de Software en Tres Capas 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(Three-Tier Architecture)</a:t>
            </a:r>
          </a:p>
        </p:txBody>
      </p:sp>
      <p:grpSp>
        <p:nvGrpSpPr>
          <p:cNvPr name="Group 40" id="40"/>
          <p:cNvGrpSpPr>
            <a:grpSpLocks noChangeAspect="true"/>
          </p:cNvGrpSpPr>
          <p:nvPr/>
        </p:nvGrpSpPr>
        <p:grpSpPr>
          <a:xfrm rot="0">
            <a:off x="0" y="0"/>
            <a:ext cx="1594213" cy="573592"/>
            <a:chOff x="0" y="0"/>
            <a:chExt cx="2495550" cy="89789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8842" r="0" b="-8842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980569" y="-212407"/>
            <a:ext cx="2557462" cy="885825"/>
            <a:chOff x="0" y="0"/>
            <a:chExt cx="3409950" cy="118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3080" r="0" b="-125629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6553185" y="3962659"/>
            <a:ext cx="11550605" cy="6625287"/>
            <a:chOff x="0" y="0"/>
            <a:chExt cx="7981950" cy="4578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3"/>
              <a:stretch>
                <a:fillRect l="0" t="0" r="-24714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1028700"/>
            <a:ext cx="16578662" cy="368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>
                <a:solidFill>
                  <a:srgbClr val="40404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 la </a:t>
            </a:r>
            <a:r>
              <a:rPr lang="en-US" sz="8100">
                <a:solidFill>
                  <a:srgbClr val="40404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gestión manual a una </a:t>
            </a:r>
            <a:r>
              <a:rPr lang="en-US" sz="8100">
                <a:solidFill>
                  <a:srgbClr val="0092D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postventa digital</a:t>
            </a:r>
            <a:r>
              <a:rPr lang="en-US" sz="8100">
                <a:solidFill>
                  <a:srgbClr val="40404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con alertas inteligentes.</a:t>
            </a:r>
          </a:p>
        </p:txBody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-94357" y="0"/>
            <a:ext cx="1871662" cy="673418"/>
            <a:chOff x="0" y="0"/>
            <a:chExt cx="2495550" cy="8978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842" r="0" b="-8842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980569" y="-312233"/>
            <a:ext cx="2557462" cy="885825"/>
            <a:chOff x="0" y="0"/>
            <a:chExt cx="3409950" cy="118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3080" r="0" b="-125629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2932073" y="779620"/>
            <a:ext cx="12423854" cy="9649595"/>
            <a:chOff x="0" y="0"/>
            <a:chExt cx="13081000" cy="1016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80060" y="1689100"/>
              <a:ext cx="12105640" cy="5897880"/>
            </a:xfrm>
            <a:custGeom>
              <a:avLst/>
              <a:gdLst/>
              <a:ahLst/>
              <a:cxnLst/>
              <a:rect r="r" b="b" t="t" l="l"/>
              <a:pathLst>
                <a:path h="5897880" w="12105640">
                  <a:moveTo>
                    <a:pt x="0" y="0"/>
                  </a:moveTo>
                  <a:lnTo>
                    <a:pt x="12105640" y="0"/>
                  </a:lnTo>
                  <a:lnTo>
                    <a:pt x="12105640" y="5897880"/>
                  </a:lnTo>
                  <a:lnTo>
                    <a:pt x="0" y="5897880"/>
                  </a:lnTo>
                  <a:close/>
                </a:path>
              </a:pathLst>
            </a:custGeom>
            <a:blipFill>
              <a:blip r:embed="rId3"/>
              <a:stretch>
                <a:fillRect l="0" t="-7727" r="0" b="-7727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081000" cy="10160000"/>
            </a:xfrm>
            <a:custGeom>
              <a:avLst/>
              <a:gdLst/>
              <a:ahLst/>
              <a:cxnLst/>
              <a:rect r="r" b="b" t="t" l="l"/>
              <a:pathLst>
                <a:path h="10160000" w="13081000">
                  <a:moveTo>
                    <a:pt x="0" y="0"/>
                  </a:moveTo>
                  <a:lnTo>
                    <a:pt x="13081000" y="0"/>
                  </a:lnTo>
                  <a:lnTo>
                    <a:pt x="13081000" y="10160000"/>
                  </a:lnTo>
                  <a:lnTo>
                    <a:pt x="0" y="10160000"/>
                  </a:lnTo>
                  <a:close/>
                </a:path>
              </a:pathLst>
            </a:custGeom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0" y="0"/>
            <a:ext cx="1594213" cy="573592"/>
            <a:chOff x="0" y="0"/>
            <a:chExt cx="2495550" cy="8978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842" r="0" b="-8842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980569" y="-312233"/>
            <a:ext cx="2557462" cy="885825"/>
            <a:chOff x="0" y="0"/>
            <a:chExt cx="3409950" cy="118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3080" r="0" b="-125629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204740" y="0"/>
            <a:ext cx="9112720" cy="10642592"/>
          </a:xfrm>
          <a:custGeom>
            <a:avLst/>
            <a:gdLst/>
            <a:ahLst/>
            <a:cxnLst/>
            <a:rect r="r" b="b" t="t" l="l"/>
            <a:pathLst>
              <a:path h="10642592" w="9112720">
                <a:moveTo>
                  <a:pt x="0" y="0"/>
                </a:moveTo>
                <a:lnTo>
                  <a:pt x="9112720" y="0"/>
                </a:lnTo>
                <a:lnTo>
                  <a:pt x="9112720" y="10642592"/>
                </a:lnTo>
                <a:lnTo>
                  <a:pt x="0" y="106425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768081" y="4024659"/>
            <a:ext cx="12043417" cy="177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sz="5832">
                <a:solidFill>
                  <a:srgbClr val="40404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Modelo </a:t>
            </a:r>
            <a:r>
              <a:rPr lang="en-US" sz="5832">
                <a:solidFill>
                  <a:srgbClr val="0092D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B2B</a:t>
            </a:r>
            <a:r>
              <a:rPr lang="en-US" sz="5832">
                <a:solidFill>
                  <a:srgbClr val="40404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: trabajamos empresa a empresa.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83000" y="6310057"/>
            <a:ext cx="11359928" cy="405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6"/>
              </a:lnSpc>
            </a:pPr>
            <a:r>
              <a:rPr lang="en-US" sz="2426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Entregamos </a:t>
            </a:r>
            <a:r>
              <a:rPr lang="en-US" sz="2426">
                <a:solidFill>
                  <a:srgbClr val="23487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26">
                <a:solidFill>
                  <a:srgbClr val="0092DD"/>
                </a:solidFill>
                <a:latin typeface="Montserrat"/>
                <a:ea typeface="Montserrat"/>
                <a:cs typeface="Montserrat"/>
                <a:sym typeface="Montserrat"/>
              </a:rPr>
              <a:t>gestión y control</a:t>
            </a:r>
            <a:r>
              <a:rPr lang="en-US" sz="2426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 de todos los datos</a:t>
            </a:r>
            <a:r>
              <a:rPr lang="en-US" sz="2426">
                <a:solidFill>
                  <a:srgbClr val="0092DD"/>
                </a:solidFill>
                <a:latin typeface="Montserrat"/>
                <a:ea typeface="Montserrat"/>
                <a:cs typeface="Montserrat"/>
                <a:sym typeface="Montserrat"/>
              </a:rPr>
              <a:t> del proceso postventa</a:t>
            </a:r>
            <a:r>
              <a:rPr lang="en-US" sz="2426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0" y="0"/>
            <a:ext cx="1594213" cy="573592"/>
            <a:chOff x="0" y="0"/>
            <a:chExt cx="2495550" cy="8978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842" r="0" b="-8842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980569" y="-312233"/>
            <a:ext cx="2557462" cy="885825"/>
            <a:chOff x="0" y="0"/>
            <a:chExt cx="3409950" cy="118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3080" r="0" b="-125629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438282" y="3334208"/>
            <a:ext cx="12443592" cy="7347477"/>
          </a:xfrm>
          <a:custGeom>
            <a:avLst/>
            <a:gdLst/>
            <a:ahLst/>
            <a:cxnLst/>
            <a:rect r="r" b="b" t="t" l="l"/>
            <a:pathLst>
              <a:path h="7347477" w="12443592">
                <a:moveTo>
                  <a:pt x="0" y="0"/>
                </a:moveTo>
                <a:lnTo>
                  <a:pt x="12443591" y="0"/>
                </a:lnTo>
                <a:lnTo>
                  <a:pt x="12443591" y="7347477"/>
                </a:lnTo>
                <a:lnTo>
                  <a:pt x="0" y="7347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3007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17302" y="-110083"/>
            <a:ext cx="8703896" cy="10491440"/>
          </a:xfrm>
          <a:custGeom>
            <a:avLst/>
            <a:gdLst/>
            <a:ahLst/>
            <a:cxnLst/>
            <a:rect r="r" b="b" t="t" l="l"/>
            <a:pathLst>
              <a:path h="10491440" w="8703896">
                <a:moveTo>
                  <a:pt x="0" y="0"/>
                </a:moveTo>
                <a:lnTo>
                  <a:pt x="8703896" y="0"/>
                </a:lnTo>
                <a:lnTo>
                  <a:pt x="8703896" y="10491440"/>
                </a:lnTo>
                <a:lnTo>
                  <a:pt x="0" y="104914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02" t="0" r="-1906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77570" y="2328570"/>
            <a:ext cx="11671397" cy="84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68"/>
              </a:lnSpc>
            </a:pPr>
            <a:r>
              <a:rPr lang="en-US" sz="5556" b="true">
                <a:solidFill>
                  <a:srgbClr val="4040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Metodología Scrum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58943" y="7419436"/>
            <a:ext cx="1108652" cy="891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8"/>
              </a:lnSpc>
            </a:pPr>
            <a:r>
              <a:rPr lang="en-US" sz="2563" spc="82">
                <a:solidFill>
                  <a:srgbClr val="404040"/>
                </a:solidFill>
                <a:latin typeface="Canva Sans"/>
                <a:ea typeface="Canva Sans"/>
                <a:cs typeface="Canva Sans"/>
                <a:sym typeface="Canva Sans"/>
              </a:rPr>
              <a:t>Total:</a:t>
            </a:r>
          </a:p>
          <a:p>
            <a:pPr algn="ctr">
              <a:lnSpc>
                <a:spcPts val="3588"/>
              </a:lnSpc>
              <a:spcBef>
                <a:spcPct val="0"/>
              </a:spcBef>
            </a:pPr>
            <a:r>
              <a:rPr lang="en-US" b="true" sz="2563" spc="82">
                <a:solidFill>
                  <a:srgbClr val="4040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</a:t>
            </a:r>
          </a:p>
        </p:txBody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0" y="0"/>
            <a:ext cx="1594213" cy="573592"/>
            <a:chOff x="0" y="0"/>
            <a:chExt cx="2495550" cy="8978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842" r="0" b="-8842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972743" y="-312233"/>
            <a:ext cx="2557462" cy="885825"/>
            <a:chOff x="0" y="0"/>
            <a:chExt cx="3409950" cy="118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3080" r="0" b="-12562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49671" y="433387"/>
            <a:ext cx="16701803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42"/>
              </a:lnSpc>
            </a:pPr>
            <a:r>
              <a:rPr lang="en-US" sz="7951" b="true">
                <a:solidFill>
                  <a:srgbClr val="4040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RoadMap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211241" y="3337107"/>
            <a:ext cx="14542241" cy="5550289"/>
          </a:xfrm>
          <a:custGeom>
            <a:avLst/>
            <a:gdLst/>
            <a:ahLst/>
            <a:cxnLst/>
            <a:rect r="r" b="b" t="t" l="l"/>
            <a:pathLst>
              <a:path h="5550289" w="14542241">
                <a:moveTo>
                  <a:pt x="0" y="0"/>
                </a:moveTo>
                <a:lnTo>
                  <a:pt x="14542241" y="0"/>
                </a:lnTo>
                <a:lnTo>
                  <a:pt x="14542241" y="5550289"/>
                </a:lnTo>
                <a:lnTo>
                  <a:pt x="0" y="55502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30437" y="2584631"/>
            <a:ext cx="4542472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 spc="121">
                <a:solidFill>
                  <a:srgbClr val="4040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Inicio de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69666" y="9182100"/>
            <a:ext cx="3267075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 spc="121">
                <a:solidFill>
                  <a:srgbClr val="4040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Planificación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70991" y="2584631"/>
            <a:ext cx="1729581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 spc="121">
                <a:solidFill>
                  <a:srgbClr val="4040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Diseño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9182100"/>
            <a:ext cx="3358039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 spc="121">
                <a:solidFill>
                  <a:srgbClr val="4040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Construcción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08265" y="9182100"/>
            <a:ext cx="1543209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 spc="121">
                <a:solidFill>
                  <a:srgbClr val="4040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Cierre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58611" y="2584631"/>
            <a:ext cx="2644457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 spc="121">
                <a:solidFill>
                  <a:srgbClr val="4040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Validación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31957" y="5750936"/>
            <a:ext cx="269716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 spc="121">
                <a:solidFill>
                  <a:srgbClr val="FDFE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87110" y="5750936"/>
            <a:ext cx="284321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 spc="121">
                <a:solidFill>
                  <a:srgbClr val="FDFE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52681" y="5750936"/>
            <a:ext cx="300514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 spc="121">
                <a:solidFill>
                  <a:srgbClr val="FDFE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34445" y="5750936"/>
            <a:ext cx="315595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 spc="121">
                <a:solidFill>
                  <a:srgbClr val="FDFE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31290" y="5750936"/>
            <a:ext cx="305842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 spc="121">
                <a:solidFill>
                  <a:srgbClr val="FDFE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018382" y="5750936"/>
            <a:ext cx="325755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spc="121">
                <a:solidFill>
                  <a:srgbClr val="FDFEFD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0" y="0"/>
            <a:ext cx="1594213" cy="573592"/>
            <a:chOff x="0" y="0"/>
            <a:chExt cx="2495550" cy="8978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842" r="0" b="-8842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631957" y="3755832"/>
            <a:ext cx="3970360" cy="746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3202" indent="-231601" lvl="1">
              <a:lnSpc>
                <a:spcPts val="3003"/>
              </a:lnSpc>
              <a:buFont typeface="Arial"/>
              <a:buChar char="•"/>
            </a:pPr>
            <a:r>
              <a:rPr lang="en-US" b="true" sz="2145" spc="68">
                <a:solidFill>
                  <a:srgbClr val="4040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Reunión Kick-off </a:t>
            </a:r>
          </a:p>
          <a:p>
            <a:pPr algn="l" marL="463202" indent="-231601" lvl="1">
              <a:lnSpc>
                <a:spcPts val="3003"/>
              </a:lnSpc>
              <a:buFont typeface="Arial"/>
              <a:buChar char="•"/>
            </a:pPr>
            <a:r>
              <a:rPr lang="en-US" b="true" sz="2145" spc="68">
                <a:solidFill>
                  <a:srgbClr val="4040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Toma de requerimientos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07160" y="7123767"/>
            <a:ext cx="3727663" cy="1763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887" indent="-217444" lvl="1">
              <a:lnSpc>
                <a:spcPts val="2820"/>
              </a:lnSpc>
              <a:buFont typeface="Arial"/>
              <a:buChar char="•"/>
            </a:pPr>
            <a:r>
              <a:rPr lang="en-US" b="true" sz="2014" spc="64">
                <a:solidFill>
                  <a:srgbClr val="4040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Requerimiento Funcionales &amp; No funcionales.</a:t>
            </a:r>
          </a:p>
          <a:p>
            <a:pPr algn="l" marL="434887" indent="-217444" lvl="1">
              <a:lnSpc>
                <a:spcPts val="2820"/>
              </a:lnSpc>
              <a:buFont typeface="Arial"/>
              <a:buChar char="•"/>
            </a:pPr>
            <a:r>
              <a:rPr lang="en-US" b="true" sz="2014" spc="64">
                <a:solidFill>
                  <a:srgbClr val="4040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Definición  Historial de Usuario.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02938" y="3755832"/>
            <a:ext cx="3970360" cy="1498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3202" indent="-231601" lvl="1">
              <a:lnSpc>
                <a:spcPts val="3003"/>
              </a:lnSpc>
              <a:buFont typeface="Arial"/>
              <a:buChar char="•"/>
            </a:pPr>
            <a:r>
              <a:rPr lang="en-US" b="true" sz="2145" spc="68">
                <a:solidFill>
                  <a:srgbClr val="4040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Diseño Mockups</a:t>
            </a:r>
          </a:p>
          <a:p>
            <a:pPr algn="l" marL="463202" indent="-231601" lvl="1">
              <a:lnSpc>
                <a:spcPts val="3003"/>
              </a:lnSpc>
              <a:buFont typeface="Arial"/>
              <a:buChar char="•"/>
            </a:pPr>
            <a:r>
              <a:rPr lang="en-US" b="true" sz="2145" spc="68">
                <a:solidFill>
                  <a:srgbClr val="4040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Diseño Arquitectura Software</a:t>
            </a:r>
          </a:p>
          <a:p>
            <a:pPr algn="l" marL="463202" indent="-231601" lvl="1">
              <a:lnSpc>
                <a:spcPts val="3003"/>
              </a:lnSpc>
              <a:buFont typeface="Arial"/>
              <a:buChar char="•"/>
            </a:pPr>
            <a:r>
              <a:rPr lang="en-US" b="true" sz="2145" spc="68">
                <a:solidFill>
                  <a:srgbClr val="4040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Modelo BD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823019" y="7123767"/>
            <a:ext cx="3970360" cy="36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3202" indent="-231601" lvl="1">
              <a:lnSpc>
                <a:spcPts val="3003"/>
              </a:lnSpc>
              <a:buFont typeface="Arial"/>
              <a:buChar char="•"/>
            </a:pPr>
            <a:r>
              <a:rPr lang="en-US" b="true" sz="2145" spc="68">
                <a:solidFill>
                  <a:srgbClr val="4040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Desarrollo de Software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344137" y="7284742"/>
            <a:ext cx="3970360" cy="36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3202" indent="-231601" lvl="1">
              <a:lnSpc>
                <a:spcPts val="3003"/>
              </a:lnSpc>
              <a:buFont typeface="Arial"/>
              <a:buChar char="•"/>
            </a:pPr>
            <a:r>
              <a:rPr lang="en-US" b="true" sz="2145" spc="68">
                <a:solidFill>
                  <a:srgbClr val="4040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Cierre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637132" y="3944054"/>
            <a:ext cx="3970360" cy="36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3202" indent="-231601" lvl="1">
              <a:lnSpc>
                <a:spcPts val="3003"/>
              </a:lnSpc>
              <a:buFont typeface="Arial"/>
              <a:buChar char="•"/>
            </a:pPr>
            <a:r>
              <a:rPr lang="en-US" b="true" sz="2145" spc="68">
                <a:solidFill>
                  <a:srgbClr val="4040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Prueba de Software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856346" y="-312233"/>
            <a:ext cx="2557462" cy="885825"/>
            <a:chOff x="0" y="0"/>
            <a:chExt cx="3409950" cy="118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3080" r="0" b="-1256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66368" y="3785394"/>
            <a:ext cx="2932498" cy="293249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6445" r="0" b="-1644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815107" y="3785394"/>
            <a:ext cx="2932498" cy="293249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141820" y="3785394"/>
            <a:ext cx="3040641" cy="304064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6445" r="0" b="-1644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622302" y="3785394"/>
            <a:ext cx="2932498" cy="293249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6445" r="0" b="-16445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76625" y="7085765"/>
            <a:ext cx="249569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6"/>
              </a:lnSpc>
              <a:spcBef>
                <a:spcPct val="0"/>
              </a:spcBef>
            </a:pPr>
            <a:r>
              <a:rPr lang="en-US" sz="2763">
                <a:solidFill>
                  <a:srgbClr val="23487F"/>
                </a:solidFill>
                <a:latin typeface="Montserrat"/>
                <a:ea typeface="Montserrat"/>
                <a:cs typeface="Montserrat"/>
                <a:sym typeface="Montserrat"/>
              </a:rPr>
              <a:t>Ricardo Flores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64493" y="7085765"/>
            <a:ext cx="261744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6"/>
              </a:lnSpc>
              <a:spcBef>
                <a:spcPct val="0"/>
              </a:spcBef>
            </a:pPr>
            <a:r>
              <a:rPr lang="en-US" sz="2763">
                <a:solidFill>
                  <a:srgbClr val="23487F"/>
                </a:solidFill>
                <a:latin typeface="Montserrat"/>
                <a:ea typeface="Montserrat"/>
                <a:cs typeface="Montserrat"/>
                <a:sym typeface="Montserrat"/>
              </a:rPr>
              <a:t>Muriel Romero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60741" y="7085765"/>
            <a:ext cx="249465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6"/>
              </a:lnSpc>
              <a:spcBef>
                <a:spcPct val="0"/>
              </a:spcBef>
            </a:pPr>
            <a:r>
              <a:rPr lang="en-US" sz="2763">
                <a:solidFill>
                  <a:srgbClr val="23487F"/>
                </a:solidFill>
                <a:latin typeface="Montserrat"/>
                <a:ea typeface="Montserrat"/>
                <a:cs typeface="Montserrat"/>
                <a:sym typeface="Montserrat"/>
              </a:rPr>
              <a:t>Felipe Quintul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410718" y="7085765"/>
            <a:ext cx="313938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6"/>
              </a:lnSpc>
              <a:spcBef>
                <a:spcPct val="0"/>
              </a:spcBef>
            </a:pPr>
            <a:r>
              <a:rPr lang="en-US" sz="2763">
                <a:solidFill>
                  <a:srgbClr val="23487F"/>
                </a:solidFill>
                <a:latin typeface="Montserrat"/>
                <a:ea typeface="Montserrat"/>
                <a:cs typeface="Montserrat"/>
                <a:sym typeface="Montserrat"/>
              </a:rPr>
              <a:t>Cristopher Muñoz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630858" y="1499855"/>
            <a:ext cx="903580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066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Integrantes del Equipo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39238" y="3931811"/>
            <a:ext cx="952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0" y="0"/>
            <a:ext cx="1594213" cy="573592"/>
            <a:chOff x="0" y="0"/>
            <a:chExt cx="2495550" cy="8978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8842" r="0" b="-8842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730538" y="0"/>
            <a:ext cx="2557462" cy="885825"/>
            <a:chOff x="0" y="0"/>
            <a:chExt cx="3409950" cy="118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3080" r="0" b="-125629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-714342"/>
            <a:ext cx="8388393" cy="11715684"/>
            <a:chOff x="0" y="0"/>
            <a:chExt cx="8122920" cy="113449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810" y="7620"/>
              <a:ext cx="6701790" cy="11341101"/>
            </a:xfrm>
            <a:custGeom>
              <a:avLst/>
              <a:gdLst/>
              <a:ahLst/>
              <a:cxnLst/>
              <a:rect r="r" b="b" t="t" l="l"/>
              <a:pathLst>
                <a:path h="11341101" w="6701790">
                  <a:moveTo>
                    <a:pt x="3810" y="640080"/>
                  </a:moveTo>
                  <a:lnTo>
                    <a:pt x="492760" y="734060"/>
                  </a:lnTo>
                  <a:lnTo>
                    <a:pt x="1151890" y="584200"/>
                  </a:lnTo>
                  <a:lnTo>
                    <a:pt x="1245870" y="452120"/>
                  </a:lnTo>
                  <a:lnTo>
                    <a:pt x="1583690" y="358140"/>
                  </a:lnTo>
                  <a:lnTo>
                    <a:pt x="1715770" y="509270"/>
                  </a:lnTo>
                  <a:lnTo>
                    <a:pt x="2317750" y="208280"/>
                  </a:lnTo>
                  <a:lnTo>
                    <a:pt x="2468880" y="152400"/>
                  </a:lnTo>
                  <a:lnTo>
                    <a:pt x="2769870" y="208280"/>
                  </a:lnTo>
                  <a:lnTo>
                    <a:pt x="4048760" y="0"/>
                  </a:lnTo>
                  <a:lnTo>
                    <a:pt x="5967730" y="0"/>
                  </a:lnTo>
                  <a:lnTo>
                    <a:pt x="6099810" y="262890"/>
                  </a:lnTo>
                  <a:lnTo>
                    <a:pt x="6701790" y="471170"/>
                  </a:lnTo>
                  <a:lnTo>
                    <a:pt x="6682740" y="697230"/>
                  </a:lnTo>
                  <a:lnTo>
                    <a:pt x="6287770" y="2202180"/>
                  </a:lnTo>
                  <a:lnTo>
                    <a:pt x="6269990" y="2371090"/>
                  </a:lnTo>
                  <a:lnTo>
                    <a:pt x="6209030" y="2504440"/>
                  </a:lnTo>
                  <a:lnTo>
                    <a:pt x="6033770" y="2745740"/>
                  </a:lnTo>
                  <a:lnTo>
                    <a:pt x="5778500" y="3462020"/>
                  </a:lnTo>
                  <a:lnTo>
                    <a:pt x="5529580" y="3608070"/>
                  </a:lnTo>
                  <a:lnTo>
                    <a:pt x="5295900" y="3915410"/>
                  </a:lnTo>
                  <a:lnTo>
                    <a:pt x="5251450" y="5346700"/>
                  </a:lnTo>
                  <a:lnTo>
                    <a:pt x="5113020" y="6289041"/>
                  </a:lnTo>
                  <a:lnTo>
                    <a:pt x="5083810" y="6946900"/>
                  </a:lnTo>
                  <a:lnTo>
                    <a:pt x="4996181" y="7020560"/>
                  </a:lnTo>
                  <a:lnTo>
                    <a:pt x="4973321" y="7194550"/>
                  </a:lnTo>
                  <a:lnTo>
                    <a:pt x="5053331" y="7552691"/>
                  </a:lnTo>
                  <a:lnTo>
                    <a:pt x="4673601" y="7903210"/>
                  </a:lnTo>
                  <a:lnTo>
                    <a:pt x="4315460" y="8232141"/>
                  </a:lnTo>
                  <a:lnTo>
                    <a:pt x="4169410" y="8933180"/>
                  </a:lnTo>
                  <a:lnTo>
                    <a:pt x="4030980" y="9254490"/>
                  </a:lnTo>
                  <a:lnTo>
                    <a:pt x="3563620" y="9771380"/>
                  </a:lnTo>
                  <a:lnTo>
                    <a:pt x="3431540" y="10137140"/>
                  </a:lnTo>
                  <a:lnTo>
                    <a:pt x="3153410" y="10370820"/>
                  </a:lnTo>
                  <a:lnTo>
                    <a:pt x="2912110" y="10538460"/>
                  </a:lnTo>
                  <a:lnTo>
                    <a:pt x="2890520" y="10932160"/>
                  </a:lnTo>
                  <a:lnTo>
                    <a:pt x="2181860" y="11341100"/>
                  </a:lnTo>
                  <a:lnTo>
                    <a:pt x="0" y="11341100"/>
                  </a:lnTo>
                  <a:cubicBezTo>
                    <a:pt x="0" y="11342370"/>
                    <a:pt x="3810" y="623570"/>
                    <a:pt x="3810" y="640080"/>
                  </a:cubicBezTo>
                  <a:close/>
                </a:path>
              </a:pathLst>
            </a:custGeom>
            <a:blipFill>
              <a:blip r:embed="rId3"/>
              <a:stretch>
                <a:fillRect l="0" t="-3357" r="0" b="-3357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185670" y="7620"/>
              <a:ext cx="5947184" cy="11341101"/>
            </a:xfrm>
            <a:custGeom>
              <a:avLst/>
              <a:gdLst/>
              <a:ahLst/>
              <a:cxnLst/>
              <a:rect r="r" b="b" t="t" l="l"/>
              <a:pathLst>
                <a:path h="11341101" w="5947184">
                  <a:moveTo>
                    <a:pt x="5942330" y="0"/>
                  </a:moveTo>
                  <a:lnTo>
                    <a:pt x="3785870" y="0"/>
                  </a:lnTo>
                  <a:lnTo>
                    <a:pt x="3917950" y="262890"/>
                  </a:lnTo>
                  <a:lnTo>
                    <a:pt x="4519930" y="471170"/>
                  </a:lnTo>
                  <a:lnTo>
                    <a:pt x="4500880" y="697230"/>
                  </a:lnTo>
                  <a:lnTo>
                    <a:pt x="4105910" y="2202180"/>
                  </a:lnTo>
                  <a:lnTo>
                    <a:pt x="4088130" y="2371090"/>
                  </a:lnTo>
                  <a:lnTo>
                    <a:pt x="4027170" y="2504440"/>
                  </a:lnTo>
                  <a:lnTo>
                    <a:pt x="3851910" y="2745740"/>
                  </a:lnTo>
                  <a:lnTo>
                    <a:pt x="3596640" y="3462020"/>
                  </a:lnTo>
                  <a:lnTo>
                    <a:pt x="3347720" y="3608070"/>
                  </a:lnTo>
                  <a:lnTo>
                    <a:pt x="3114040" y="3915410"/>
                  </a:lnTo>
                  <a:lnTo>
                    <a:pt x="3069590" y="5346700"/>
                  </a:lnTo>
                  <a:lnTo>
                    <a:pt x="2931160" y="6289041"/>
                  </a:lnTo>
                  <a:lnTo>
                    <a:pt x="2901950" y="6946900"/>
                  </a:lnTo>
                  <a:lnTo>
                    <a:pt x="2814321" y="7020560"/>
                  </a:lnTo>
                  <a:lnTo>
                    <a:pt x="2791461" y="7194550"/>
                  </a:lnTo>
                  <a:lnTo>
                    <a:pt x="2871471" y="7552691"/>
                  </a:lnTo>
                  <a:lnTo>
                    <a:pt x="2491741" y="7903210"/>
                  </a:lnTo>
                  <a:lnTo>
                    <a:pt x="2133600" y="8232141"/>
                  </a:lnTo>
                  <a:lnTo>
                    <a:pt x="1987550" y="8933180"/>
                  </a:lnTo>
                  <a:lnTo>
                    <a:pt x="1849120" y="9254490"/>
                  </a:lnTo>
                  <a:lnTo>
                    <a:pt x="1381760" y="9771380"/>
                  </a:lnTo>
                  <a:lnTo>
                    <a:pt x="1249680" y="10137140"/>
                  </a:lnTo>
                  <a:lnTo>
                    <a:pt x="971550" y="10370820"/>
                  </a:lnTo>
                  <a:lnTo>
                    <a:pt x="730250" y="10538460"/>
                  </a:lnTo>
                  <a:lnTo>
                    <a:pt x="708660" y="10932160"/>
                  </a:lnTo>
                  <a:lnTo>
                    <a:pt x="0" y="11341100"/>
                  </a:lnTo>
                  <a:lnTo>
                    <a:pt x="5930900" y="11341100"/>
                  </a:lnTo>
                  <a:cubicBezTo>
                    <a:pt x="5932170" y="11342370"/>
                    <a:pt x="5957570" y="15240"/>
                    <a:pt x="5942330" y="0"/>
                  </a:cubicBezTo>
                  <a:close/>
                </a:path>
              </a:pathLst>
            </a:custGeom>
            <a:blipFill>
              <a:blip r:embed="rId4"/>
              <a:stretch>
                <a:fillRect l="-19534" t="0" r="-18244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810" y="7620"/>
              <a:ext cx="4048760" cy="734060"/>
            </a:xfrm>
            <a:custGeom>
              <a:avLst/>
              <a:gdLst/>
              <a:ahLst/>
              <a:cxnLst/>
              <a:rect r="r" b="b" t="t" l="l"/>
              <a:pathLst>
                <a:path h="734060" w="4048760">
                  <a:moveTo>
                    <a:pt x="0" y="7620"/>
                  </a:moveTo>
                  <a:cubicBezTo>
                    <a:pt x="0" y="7620"/>
                    <a:pt x="3810" y="622300"/>
                    <a:pt x="3810" y="640080"/>
                  </a:cubicBezTo>
                  <a:lnTo>
                    <a:pt x="492760" y="734060"/>
                  </a:lnTo>
                  <a:lnTo>
                    <a:pt x="1151890" y="584200"/>
                  </a:lnTo>
                  <a:lnTo>
                    <a:pt x="1245870" y="452120"/>
                  </a:lnTo>
                  <a:lnTo>
                    <a:pt x="1583690" y="358140"/>
                  </a:lnTo>
                  <a:lnTo>
                    <a:pt x="1715770" y="509270"/>
                  </a:lnTo>
                  <a:lnTo>
                    <a:pt x="2317750" y="208280"/>
                  </a:lnTo>
                  <a:lnTo>
                    <a:pt x="2468880" y="152400"/>
                  </a:lnTo>
                  <a:lnTo>
                    <a:pt x="2769870" y="208280"/>
                  </a:lnTo>
                  <a:lnTo>
                    <a:pt x="4048760" y="0"/>
                  </a:lnTo>
                  <a:lnTo>
                    <a:pt x="254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-3810" y="3810"/>
              <a:ext cx="6855460" cy="11337290"/>
            </a:xfrm>
            <a:custGeom>
              <a:avLst/>
              <a:gdLst/>
              <a:ahLst/>
              <a:cxnLst/>
              <a:rect r="r" b="b" t="t" l="l"/>
              <a:pathLst>
                <a:path h="11337290" w="6855460">
                  <a:moveTo>
                    <a:pt x="0" y="0"/>
                  </a:moveTo>
                  <a:lnTo>
                    <a:pt x="6855460" y="0"/>
                  </a:lnTo>
                  <a:lnTo>
                    <a:pt x="6855460" y="11337290"/>
                  </a:lnTo>
                  <a:lnTo>
                    <a:pt x="0" y="113372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6" t="0" r="-26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5733191" y="4079409"/>
            <a:ext cx="12018731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0"/>
              </a:lnSpc>
            </a:pPr>
            <a:r>
              <a:rPr lang="en-US" sz="3992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Porque</a:t>
            </a:r>
            <a:r>
              <a:rPr lang="en-US" sz="399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992">
                <a:solidFill>
                  <a:srgbClr val="108ED4"/>
                </a:solidFill>
                <a:latin typeface="Montserrat"/>
                <a:ea typeface="Montserrat"/>
                <a:cs typeface="Montserrat"/>
                <a:sym typeface="Montserrat"/>
              </a:rPr>
              <a:t>queremos revertir</a:t>
            </a:r>
            <a:r>
              <a:rPr lang="en-US" sz="3992">
                <a:solidFill>
                  <a:srgbClr val="0E427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992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la situación.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44650" y="5133975"/>
            <a:ext cx="12795813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1"/>
              </a:lnSpc>
            </a:pPr>
            <a:r>
              <a:rPr lang="en-US" sz="61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r>
              <a:rPr lang="en-US" sz="6167">
                <a:solidFill>
                  <a:srgbClr val="0092DD"/>
                </a:solidFill>
                <a:latin typeface="Montserrat"/>
                <a:ea typeface="Montserrat"/>
                <a:cs typeface="Montserrat"/>
                <a:sym typeface="Montserrat"/>
              </a:rPr>
              <a:t>De 1 año</a:t>
            </a:r>
            <a:r>
              <a:rPr lang="en-US" sz="61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6167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de espera a</a:t>
            </a:r>
            <a:r>
              <a:rPr lang="en-US" sz="61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6167">
                <a:solidFill>
                  <a:srgbClr val="0092DD"/>
                </a:solidFill>
                <a:latin typeface="Montserrat"/>
                <a:ea typeface="Montserrat"/>
                <a:cs typeface="Montserrat"/>
                <a:sym typeface="Montserrat"/>
              </a:rPr>
              <a:t>120 días</a:t>
            </a:r>
            <a:r>
              <a:rPr lang="en-US" sz="6167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 de respuesta</a:t>
            </a:r>
            <a:r>
              <a:rPr lang="en-US" sz="61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”.</a:t>
            </a:r>
          </a:p>
        </p:txBody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0" y="0"/>
            <a:ext cx="1594213" cy="573592"/>
            <a:chOff x="0" y="0"/>
            <a:chExt cx="2495550" cy="8978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8842" r="0" b="-8842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730538" y="0"/>
            <a:ext cx="2557462" cy="885825"/>
            <a:chOff x="0" y="0"/>
            <a:chExt cx="3409950" cy="118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3080" r="0" b="-125629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890672" y="0"/>
            <a:ext cx="9450341" cy="10815415"/>
          </a:xfrm>
          <a:custGeom>
            <a:avLst/>
            <a:gdLst/>
            <a:ahLst/>
            <a:cxnLst/>
            <a:rect r="r" b="b" t="t" l="l"/>
            <a:pathLst>
              <a:path h="10815415" w="9450341">
                <a:moveTo>
                  <a:pt x="0" y="0"/>
                </a:moveTo>
                <a:lnTo>
                  <a:pt x="9450341" y="0"/>
                </a:lnTo>
                <a:lnTo>
                  <a:pt x="9450341" y="10815415"/>
                </a:lnTo>
                <a:lnTo>
                  <a:pt x="0" y="108154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5309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418134" y="4098510"/>
            <a:ext cx="10696879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1"/>
              </a:lnSpc>
            </a:pPr>
            <a:r>
              <a:rPr lang="en-US" sz="6050">
                <a:solidFill>
                  <a:srgbClr val="40404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Proyecto </a:t>
            </a:r>
            <a:r>
              <a:rPr lang="en-US" sz="6050" b="true">
                <a:solidFill>
                  <a:srgbClr val="0092D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cero sorpresas</a:t>
            </a:r>
            <a:r>
              <a:rPr lang="en-US" sz="6050">
                <a:solidFill>
                  <a:srgbClr val="40404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después </a:t>
            </a:r>
          </a:p>
          <a:p>
            <a:pPr algn="ctr">
              <a:lnSpc>
                <a:spcPts val="7261"/>
              </a:lnSpc>
            </a:pPr>
            <a:r>
              <a:rPr lang="en-US" sz="6050">
                <a:solidFill>
                  <a:srgbClr val="40404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 los </a:t>
            </a:r>
            <a:r>
              <a:rPr lang="en-US" sz="6050" b="true">
                <a:solidFill>
                  <a:srgbClr val="0092D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120 días</a:t>
            </a:r>
            <a:r>
              <a:rPr lang="en-US" sz="6050">
                <a:solidFill>
                  <a:srgbClr val="0092D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.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594213" cy="573592"/>
            <a:chOff x="0" y="0"/>
            <a:chExt cx="2495550" cy="8978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842" r="0" b="-8842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872073" y="-312233"/>
            <a:ext cx="2557462" cy="885825"/>
            <a:chOff x="0" y="0"/>
            <a:chExt cx="3409950" cy="118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3080" r="0" b="-125629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3337823" y="1672131"/>
            <a:ext cx="940328" cy="919663"/>
            <a:chOff x="0" y="0"/>
            <a:chExt cx="3747540" cy="3665180"/>
          </a:xfrm>
        </p:grpSpPr>
        <p:sp>
          <p:nvSpPr>
            <p:cNvPr name="Freeform 5" id="5" descr="Monitor de Viviendas sociales | CIS | TECHO Chile"/>
            <p:cNvSpPr/>
            <p:nvPr/>
          </p:nvSpPr>
          <p:spPr>
            <a:xfrm flipH="false" flipV="false" rot="0">
              <a:off x="0" y="0"/>
              <a:ext cx="3747516" cy="3665220"/>
            </a:xfrm>
            <a:custGeom>
              <a:avLst/>
              <a:gdLst/>
              <a:ahLst/>
              <a:cxnLst/>
              <a:rect r="r" b="b" t="t" l="l"/>
              <a:pathLst>
                <a:path h="3665220" w="3747516">
                  <a:moveTo>
                    <a:pt x="0" y="0"/>
                  </a:moveTo>
                  <a:lnTo>
                    <a:pt x="3747516" y="0"/>
                  </a:lnTo>
                  <a:lnTo>
                    <a:pt x="3747516" y="3665220"/>
                  </a:lnTo>
                  <a:lnTo>
                    <a:pt x="0" y="3665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434" b="-5427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6081" y="0"/>
            <a:ext cx="9778428" cy="10385866"/>
          </a:xfrm>
          <a:custGeom>
            <a:avLst/>
            <a:gdLst/>
            <a:ahLst/>
            <a:cxnLst/>
            <a:rect r="r" b="b" t="t" l="l"/>
            <a:pathLst>
              <a:path h="10385866" w="9778428">
                <a:moveTo>
                  <a:pt x="0" y="0"/>
                </a:moveTo>
                <a:lnTo>
                  <a:pt x="9778428" y="0"/>
                </a:lnTo>
                <a:lnTo>
                  <a:pt x="9778428" y="10385866"/>
                </a:lnTo>
                <a:lnTo>
                  <a:pt x="0" y="103858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277" r="-6593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652347" y="2728565"/>
            <a:ext cx="8311281" cy="419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5"/>
              </a:lnSpc>
            </a:pPr>
            <a:r>
              <a:rPr lang="en-US" sz="6887">
                <a:solidFill>
                  <a:srgbClr val="40404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Una plataforma </a:t>
            </a:r>
            <a:r>
              <a:rPr lang="en-US" sz="6887">
                <a:solidFill>
                  <a:srgbClr val="0092D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pensada para impacto social</a:t>
            </a:r>
            <a:r>
              <a:rPr lang="en-US" sz="6887">
                <a:solidFill>
                  <a:srgbClr val="4C79D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6887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que se requiere</a:t>
            </a:r>
            <a:r>
              <a:rPr lang="en-US" sz="6887">
                <a:solidFill>
                  <a:srgbClr val="4C79D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6887">
                <a:solidFill>
                  <a:srgbClr val="0092D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hoy</a:t>
            </a:r>
            <a:r>
              <a:rPr lang="en-US" sz="6887">
                <a:solidFill>
                  <a:srgbClr val="40404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.</a:t>
            </a:r>
          </a:p>
        </p:txBody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0" y="0"/>
            <a:ext cx="1594213" cy="573592"/>
            <a:chOff x="0" y="0"/>
            <a:chExt cx="2495550" cy="8978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842" r="0" b="-8842"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980569" y="-312233"/>
            <a:ext cx="2557462" cy="885825"/>
            <a:chOff x="0" y="0"/>
            <a:chExt cx="3409950" cy="118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3080" r="0" b="-125629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-4320301">
            <a:off x="-6609944" y="-1179964"/>
            <a:ext cx="15717210" cy="9851588"/>
          </a:xfrm>
          <a:custGeom>
            <a:avLst/>
            <a:gdLst/>
            <a:ahLst/>
            <a:cxnLst/>
            <a:rect r="r" b="b" t="t" l="l"/>
            <a:pathLst>
              <a:path h="9851588" w="15717210">
                <a:moveTo>
                  <a:pt x="0" y="0"/>
                </a:moveTo>
                <a:lnTo>
                  <a:pt x="15717210" y="0"/>
                </a:lnTo>
                <a:lnTo>
                  <a:pt x="15717210" y="9851588"/>
                </a:lnTo>
                <a:lnTo>
                  <a:pt x="0" y="9851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976" r="0" b="-6291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0" y="0"/>
            <a:ext cx="1594213" cy="573592"/>
            <a:chOff x="0" y="0"/>
            <a:chExt cx="2495550" cy="8978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842" r="0" b="-8842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901239" y="3257550"/>
            <a:ext cx="12714312" cy="188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78"/>
              </a:lnSpc>
            </a:pPr>
            <a:r>
              <a:rPr lang="en-US" sz="6232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Base de datos de</a:t>
            </a:r>
            <a:r>
              <a:rPr lang="en-US" sz="6232">
                <a:solidFill>
                  <a:srgbClr val="0092DD"/>
                </a:solidFill>
                <a:latin typeface="Montserrat"/>
                <a:ea typeface="Montserrat"/>
                <a:cs typeface="Montserrat"/>
                <a:sym typeface="Montserrat"/>
              </a:rPr>
              <a:t> Postventa Habitacional</a:t>
            </a:r>
            <a:r>
              <a:rPr lang="en-US" sz="6232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39126" y="6188608"/>
            <a:ext cx="14055186" cy="5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2"/>
              </a:lnSpc>
            </a:pPr>
            <a:r>
              <a:rPr lang="en-US" sz="300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Un modelo limpio en</a:t>
            </a:r>
            <a:r>
              <a:rPr lang="en-US" sz="3001">
                <a:solidFill>
                  <a:srgbClr val="0092DD"/>
                </a:solidFill>
                <a:latin typeface="Montserrat"/>
                <a:ea typeface="Montserrat"/>
                <a:cs typeface="Montserrat"/>
                <a:sym typeface="Montserrat"/>
              </a:rPr>
              <a:t> 1FN, 2FN y 3FN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980569" y="-312233"/>
            <a:ext cx="2557462" cy="885825"/>
            <a:chOff x="0" y="0"/>
            <a:chExt cx="3409950" cy="118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3080" r="0" b="-125629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0"/>
            <a:ext cx="1594213" cy="573592"/>
            <a:chOff x="0" y="0"/>
            <a:chExt cx="2495550" cy="897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842" r="0" b="-884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0" y="1523426"/>
            <a:ext cx="18288000" cy="8002480"/>
          </a:xfrm>
          <a:custGeom>
            <a:avLst/>
            <a:gdLst/>
            <a:ahLst/>
            <a:cxnLst/>
            <a:rect r="r" b="b" t="t" l="l"/>
            <a:pathLst>
              <a:path h="8002480" w="18288000">
                <a:moveTo>
                  <a:pt x="0" y="0"/>
                </a:moveTo>
                <a:lnTo>
                  <a:pt x="18288000" y="0"/>
                </a:lnTo>
                <a:lnTo>
                  <a:pt x="18288000" y="8002480"/>
                </a:lnTo>
                <a:lnTo>
                  <a:pt x="0" y="80024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07" r="0" b="-495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41474" y="0"/>
            <a:ext cx="12714312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78"/>
              </a:lnSpc>
            </a:pPr>
            <a:r>
              <a:rPr lang="en-US" sz="6232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Modelo </a:t>
            </a:r>
            <a:r>
              <a:rPr lang="en-US" sz="6232">
                <a:solidFill>
                  <a:srgbClr val="0092DD"/>
                </a:solidFill>
                <a:latin typeface="Montserrat"/>
                <a:ea typeface="Montserrat"/>
                <a:cs typeface="Montserrat"/>
                <a:sym typeface="Montserrat"/>
              </a:rPr>
              <a:t>Base de Datos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980569" y="-312233"/>
            <a:ext cx="2557462" cy="885825"/>
            <a:chOff x="0" y="0"/>
            <a:chExt cx="3409950" cy="118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3080" r="0" b="-125629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-4320301">
            <a:off x="-6609944" y="-1179964"/>
            <a:ext cx="15717210" cy="9851588"/>
          </a:xfrm>
          <a:custGeom>
            <a:avLst/>
            <a:gdLst/>
            <a:ahLst/>
            <a:cxnLst/>
            <a:rect r="r" b="b" t="t" l="l"/>
            <a:pathLst>
              <a:path h="9851588" w="15717210">
                <a:moveTo>
                  <a:pt x="0" y="0"/>
                </a:moveTo>
                <a:lnTo>
                  <a:pt x="15717210" y="0"/>
                </a:lnTo>
                <a:lnTo>
                  <a:pt x="15717210" y="9851588"/>
                </a:lnTo>
                <a:lnTo>
                  <a:pt x="0" y="9851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976" r="0" b="-6291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0" y="0"/>
            <a:ext cx="1594213" cy="573592"/>
            <a:chOff x="0" y="0"/>
            <a:chExt cx="2495550" cy="8978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842" r="0" b="-8842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901239" y="3257550"/>
            <a:ext cx="12714312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78"/>
              </a:lnSpc>
            </a:pPr>
            <a:r>
              <a:rPr lang="en-US" sz="6232">
                <a:solidFill>
                  <a:srgbClr val="0092DD"/>
                </a:solidFill>
                <a:latin typeface="Montserrat"/>
                <a:ea typeface="Montserrat"/>
                <a:cs typeface="Montserrat"/>
                <a:sym typeface="Montserrat"/>
              </a:rPr>
              <a:t>ISO 20.001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24990" y="5361125"/>
            <a:ext cx="14055186" cy="104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2"/>
              </a:lnSpc>
            </a:pPr>
            <a:r>
              <a:rPr lang="en-US" sz="300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Protección de datos y Buenas Prácticas </a:t>
            </a:r>
          </a:p>
          <a:p>
            <a:pPr algn="ctr">
              <a:lnSpc>
                <a:spcPts val="4202"/>
              </a:lnSpc>
            </a:pPr>
            <a:r>
              <a:rPr lang="en-US" sz="3001">
                <a:solidFill>
                  <a:srgbClr val="0092DD"/>
                </a:solidFill>
                <a:latin typeface="Montserrat"/>
                <a:ea typeface="Montserrat"/>
                <a:cs typeface="Montserrat"/>
                <a:sym typeface="Montserrat"/>
              </a:rPr>
              <a:t>acceso de roles  controlado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980569" y="-312233"/>
            <a:ext cx="2557462" cy="885825"/>
            <a:chOff x="0" y="0"/>
            <a:chExt cx="3409950" cy="118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3080" r="0" b="-125629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-4320301">
            <a:off x="-6609944" y="-1179964"/>
            <a:ext cx="15717210" cy="9851588"/>
          </a:xfrm>
          <a:custGeom>
            <a:avLst/>
            <a:gdLst/>
            <a:ahLst/>
            <a:cxnLst/>
            <a:rect r="r" b="b" t="t" l="l"/>
            <a:pathLst>
              <a:path h="9851588" w="15717210">
                <a:moveTo>
                  <a:pt x="0" y="0"/>
                </a:moveTo>
                <a:lnTo>
                  <a:pt x="15717210" y="0"/>
                </a:lnTo>
                <a:lnTo>
                  <a:pt x="15717210" y="9851588"/>
                </a:lnTo>
                <a:lnTo>
                  <a:pt x="0" y="9851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976" r="0" b="-6291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0" y="0"/>
            <a:ext cx="1594213" cy="573592"/>
            <a:chOff x="0" y="0"/>
            <a:chExt cx="2495550" cy="8978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842" r="0" b="-8842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901239" y="3257550"/>
            <a:ext cx="12714312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78"/>
              </a:lnSpc>
            </a:pPr>
            <a:r>
              <a:rPr lang="en-US" sz="6232">
                <a:solidFill>
                  <a:srgbClr val="0092DD"/>
                </a:solidFill>
                <a:latin typeface="Montserrat"/>
                <a:ea typeface="Montserrat"/>
                <a:cs typeface="Montserrat"/>
                <a:sym typeface="Montserrat"/>
              </a:rPr>
              <a:t>Diagramas </a:t>
            </a:r>
            <a:r>
              <a:rPr lang="en-US" sz="623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4+1</a:t>
            </a:r>
            <a:r>
              <a:rPr lang="en-US" sz="6232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39126" y="6188608"/>
            <a:ext cx="14055186" cy="104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2"/>
              </a:lnSpc>
            </a:pPr>
            <a:r>
              <a:rPr lang="en-US" sz="300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Diagramas de </a:t>
            </a:r>
            <a:r>
              <a:rPr lang="en-US" sz="3001">
                <a:solidFill>
                  <a:srgbClr val="1295DC"/>
                </a:solidFill>
                <a:latin typeface="Montserrat"/>
                <a:ea typeface="Montserrat"/>
                <a:cs typeface="Montserrat"/>
                <a:sym typeface="Montserrat"/>
              </a:rPr>
              <a:t>Componentes, paquetes, despliegue, actividad y comunicación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980569" y="-312233"/>
            <a:ext cx="2557462" cy="885825"/>
            <a:chOff x="0" y="0"/>
            <a:chExt cx="3409950" cy="118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3080" r="0" b="-125629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0"/>
            <a:ext cx="1594213" cy="573592"/>
            <a:chOff x="0" y="0"/>
            <a:chExt cx="2495550" cy="897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842" r="0" b="-884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774875" y="942975"/>
            <a:ext cx="14738251" cy="9082447"/>
          </a:xfrm>
          <a:custGeom>
            <a:avLst/>
            <a:gdLst/>
            <a:ahLst/>
            <a:cxnLst/>
            <a:rect r="r" b="b" t="t" l="l"/>
            <a:pathLst>
              <a:path h="9082447" w="14738251">
                <a:moveTo>
                  <a:pt x="0" y="0"/>
                </a:moveTo>
                <a:lnTo>
                  <a:pt x="14738250" y="0"/>
                </a:lnTo>
                <a:lnTo>
                  <a:pt x="14738250" y="9082447"/>
                </a:lnTo>
                <a:lnTo>
                  <a:pt x="0" y="90824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41474" y="0"/>
            <a:ext cx="12714312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78"/>
              </a:lnSpc>
            </a:pPr>
            <a:r>
              <a:rPr lang="en-US" sz="6232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Diagrama  de </a:t>
            </a:r>
            <a:r>
              <a:rPr lang="en-US" sz="6232">
                <a:solidFill>
                  <a:srgbClr val="1295DC"/>
                </a:solidFill>
                <a:latin typeface="Montserrat"/>
                <a:ea typeface="Montserrat"/>
                <a:cs typeface="Montserrat"/>
                <a:sym typeface="Montserrat"/>
              </a:rPr>
              <a:t>Componentes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980569" y="-312233"/>
            <a:ext cx="2557462" cy="885825"/>
            <a:chOff x="0" y="0"/>
            <a:chExt cx="3409950" cy="118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3080" r="0" b="-125629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0"/>
            <a:ext cx="1594213" cy="573592"/>
            <a:chOff x="0" y="0"/>
            <a:chExt cx="2495550" cy="897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842" r="0" b="-884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549801" y="793478"/>
            <a:ext cx="14161836" cy="9258300"/>
          </a:xfrm>
          <a:custGeom>
            <a:avLst/>
            <a:gdLst/>
            <a:ahLst/>
            <a:cxnLst/>
            <a:rect r="r" b="b" t="t" l="l"/>
            <a:pathLst>
              <a:path h="9258300" w="14161836">
                <a:moveTo>
                  <a:pt x="0" y="0"/>
                </a:moveTo>
                <a:lnTo>
                  <a:pt x="14161835" y="0"/>
                </a:lnTo>
                <a:lnTo>
                  <a:pt x="14161835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41474" y="0"/>
            <a:ext cx="12714312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78"/>
              </a:lnSpc>
            </a:pPr>
            <a:r>
              <a:rPr lang="en-US" sz="6232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Diagrama  de </a:t>
            </a:r>
            <a:r>
              <a:rPr lang="en-US" sz="6232">
                <a:solidFill>
                  <a:srgbClr val="1295DC"/>
                </a:solidFill>
                <a:latin typeface="Montserrat"/>
                <a:ea typeface="Montserrat"/>
                <a:cs typeface="Montserrat"/>
                <a:sym typeface="Montserrat"/>
              </a:rPr>
              <a:t>Despliegue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980569" y="-312233"/>
            <a:ext cx="2557462" cy="885825"/>
            <a:chOff x="0" y="0"/>
            <a:chExt cx="3409950" cy="118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3080" r="0" b="-125629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0"/>
            <a:ext cx="1594213" cy="573592"/>
            <a:chOff x="0" y="0"/>
            <a:chExt cx="2495550" cy="897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842" r="0" b="-884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401226" y="1098831"/>
            <a:ext cx="14054560" cy="9188169"/>
          </a:xfrm>
          <a:custGeom>
            <a:avLst/>
            <a:gdLst/>
            <a:ahLst/>
            <a:cxnLst/>
            <a:rect r="r" b="b" t="t" l="l"/>
            <a:pathLst>
              <a:path h="9188169" w="14054560">
                <a:moveTo>
                  <a:pt x="0" y="0"/>
                </a:moveTo>
                <a:lnTo>
                  <a:pt x="14054560" y="0"/>
                </a:lnTo>
                <a:lnTo>
                  <a:pt x="14054560" y="9188169"/>
                </a:lnTo>
                <a:lnTo>
                  <a:pt x="0" y="91881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41474" y="0"/>
            <a:ext cx="12714312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78"/>
              </a:lnSpc>
            </a:pPr>
            <a:r>
              <a:rPr lang="en-US" sz="6232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Diagrama  de </a:t>
            </a:r>
            <a:r>
              <a:rPr lang="en-US" sz="6232">
                <a:solidFill>
                  <a:srgbClr val="1295DC"/>
                </a:solidFill>
                <a:latin typeface="Montserrat"/>
                <a:ea typeface="Montserrat"/>
                <a:cs typeface="Montserrat"/>
                <a:sym typeface="Montserrat"/>
              </a:rPr>
              <a:t>Paquetes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980569" y="-312233"/>
            <a:ext cx="2557462" cy="885825"/>
            <a:chOff x="0" y="0"/>
            <a:chExt cx="3409950" cy="118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3080" r="0" b="-125629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0"/>
            <a:ext cx="1594213" cy="573592"/>
            <a:chOff x="0" y="0"/>
            <a:chExt cx="2495550" cy="897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842" r="0" b="-884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834025" y="942975"/>
            <a:ext cx="8529209" cy="9258300"/>
          </a:xfrm>
          <a:custGeom>
            <a:avLst/>
            <a:gdLst/>
            <a:ahLst/>
            <a:cxnLst/>
            <a:rect r="r" b="b" t="t" l="l"/>
            <a:pathLst>
              <a:path h="9258300" w="8529209">
                <a:moveTo>
                  <a:pt x="0" y="0"/>
                </a:moveTo>
                <a:lnTo>
                  <a:pt x="8529209" y="0"/>
                </a:lnTo>
                <a:lnTo>
                  <a:pt x="8529209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41474" y="0"/>
            <a:ext cx="12714312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78"/>
              </a:lnSpc>
            </a:pPr>
            <a:r>
              <a:rPr lang="en-US" sz="6232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Diagrama  de </a:t>
            </a:r>
            <a:r>
              <a:rPr lang="en-US" sz="6232">
                <a:solidFill>
                  <a:srgbClr val="1295DC"/>
                </a:solidFill>
                <a:latin typeface="Montserrat"/>
                <a:ea typeface="Montserrat"/>
                <a:cs typeface="Montserrat"/>
                <a:sym typeface="Montserrat"/>
              </a:rPr>
              <a:t>Actividad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980569" y="-312233"/>
            <a:ext cx="2557462" cy="885825"/>
            <a:chOff x="0" y="0"/>
            <a:chExt cx="3409950" cy="118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99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3080" r="0" b="-125629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0"/>
            <a:ext cx="1594213" cy="573592"/>
            <a:chOff x="0" y="0"/>
            <a:chExt cx="2495550" cy="897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95550" cy="897890"/>
            </a:xfrm>
            <a:custGeom>
              <a:avLst/>
              <a:gdLst/>
              <a:ahLst/>
              <a:cxnLst/>
              <a:rect r="r" b="b" t="t" l="l"/>
              <a:pathLst>
                <a:path h="89789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897890"/>
                  </a:lnTo>
                  <a:lnTo>
                    <a:pt x="0" y="89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842" r="0" b="-884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596893" y="786161"/>
            <a:ext cx="15003473" cy="9808520"/>
          </a:xfrm>
          <a:custGeom>
            <a:avLst/>
            <a:gdLst/>
            <a:ahLst/>
            <a:cxnLst/>
            <a:rect r="r" b="b" t="t" l="l"/>
            <a:pathLst>
              <a:path h="9808520" w="15003473">
                <a:moveTo>
                  <a:pt x="0" y="0"/>
                </a:moveTo>
                <a:lnTo>
                  <a:pt x="15003473" y="0"/>
                </a:lnTo>
                <a:lnTo>
                  <a:pt x="15003473" y="9808520"/>
                </a:lnTo>
                <a:lnTo>
                  <a:pt x="0" y="9808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41474" y="0"/>
            <a:ext cx="12714312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78"/>
              </a:lnSpc>
            </a:pPr>
            <a:r>
              <a:rPr lang="en-US" sz="6232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Diagrama  de </a:t>
            </a:r>
            <a:r>
              <a:rPr lang="en-US" sz="6232">
                <a:solidFill>
                  <a:srgbClr val="1295DC"/>
                </a:solidFill>
                <a:latin typeface="Montserrat"/>
                <a:ea typeface="Montserrat"/>
                <a:cs typeface="Montserrat"/>
                <a:sym typeface="Montserrat"/>
              </a:rPr>
              <a:t>Comunicación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DAG38pY8Yo8</dc:identifier>
  <dcterms:modified xsi:type="dcterms:W3CDTF">2011-08-01T06:04:30Z</dcterms:modified>
  <cp:revision>1</cp:revision>
  <dc:title>TRASFORMAMOS LA GESTIÓN HABITACIONAL.pptx</dc:title>
</cp:coreProperties>
</file>